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Gelasi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Gelasi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Gelasi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Gelasio-italic.fntdata"/><Relationship Id="rId6" Type="http://schemas.openxmlformats.org/officeDocument/2006/relationships/slide" Target="slides/slide1.xml"/><Relationship Id="rId18" Type="http://schemas.openxmlformats.org/officeDocument/2006/relationships/font" Target="fonts/Gelasi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9ab6a38f29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9ab6a38f29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8531dc5f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8531dc5f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9ab6a38f29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9ab6a38f29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ab6a38f29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ab6a38f29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852baebf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852baebf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8531dc5f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8531dc5f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ab6a38f29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9ab6a38f2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852baebfc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852baebfc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852baebfc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852baebfc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9ab6a38f2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9ab6a38f2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50" name="Shape 50"/>
        <p:cNvGrpSpPr/>
        <p:nvPr/>
      </p:nvGrpSpPr>
      <p:grpSpPr>
        <a:xfrm>
          <a:off x="0" y="0"/>
          <a:ext cx="0" cy="0"/>
          <a:chOff x="0" y="0"/>
          <a:chExt cx="0" cy="0"/>
        </a:xfrm>
      </p:grpSpPr>
      <p:sp>
        <p:nvSpPr>
          <p:cNvPr id="51" name="Google Shape;51;p13"/>
          <p:cNvSpPr/>
          <p:nvPr/>
        </p:nvSpPr>
        <p:spPr>
          <a:xfrm>
            <a:off x="0" y="0"/>
            <a:ext cx="9144000" cy="5143500"/>
          </a:xfrm>
          <a:prstGeom prst="rect">
            <a:avLst/>
          </a:prstGeom>
          <a:solidFill>
            <a:srgbClr val="DDCF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3"/>
          <p:cNvSpPr/>
          <p:nvPr/>
        </p:nvSpPr>
        <p:spPr>
          <a:xfrm>
            <a:off x="0" y="0"/>
            <a:ext cx="9144000" cy="5143500"/>
          </a:xfrm>
          <a:prstGeom prst="rect">
            <a:avLst/>
          </a:prstGeom>
          <a:solidFill>
            <a:srgbClr val="F9F6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 name="Google Shape;53;p13">
            <a:hlinkClick r:id="rId2"/>
          </p:cNvPr>
          <p:cNvPicPr preferRelativeResize="0"/>
          <p:nvPr/>
        </p:nvPicPr>
        <p:blipFill rotWithShape="1">
          <a:blip r:embed="rId3">
            <a:alphaModFix/>
          </a:blip>
          <a:srcRect b="0" l="0" r="0" t="0"/>
          <a:stretch/>
        </p:blipFill>
        <p:spPr>
          <a:xfrm>
            <a:off x="8029180" y="4844491"/>
            <a:ext cx="1071844" cy="25603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1" Type="http://schemas.openxmlformats.org/officeDocument/2006/relationships/image" Target="../media/image21.png"/><Relationship Id="rId10"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2.png"/><Relationship Id="rId9" Type="http://schemas.openxmlformats.org/officeDocument/2006/relationships/image" Target="../media/image10.png"/><Relationship Id="rId5" Type="http://schemas.openxmlformats.org/officeDocument/2006/relationships/image" Target="../media/image24.png"/><Relationship Id="rId6" Type="http://schemas.openxmlformats.org/officeDocument/2006/relationships/image" Target="../media/image1.png"/><Relationship Id="rId7" Type="http://schemas.openxmlformats.org/officeDocument/2006/relationships/image" Target="../media/image9.png"/><Relationship Id="rId8"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8.png"/><Relationship Id="rId6"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6.png"/><Relationship Id="rId5" Type="http://schemas.openxmlformats.org/officeDocument/2006/relationships/image" Target="../media/image20.png"/><Relationship Id="rId6"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0"/>
        </a:solidFill>
      </p:bgPr>
    </p:bg>
    <p:spTree>
      <p:nvGrpSpPr>
        <p:cNvPr id="57" name="Shape 57"/>
        <p:cNvGrpSpPr/>
        <p:nvPr/>
      </p:nvGrpSpPr>
      <p:grpSpPr>
        <a:xfrm>
          <a:off x="0" y="0"/>
          <a:ext cx="0" cy="0"/>
          <a:chOff x="0" y="0"/>
          <a:chExt cx="0" cy="0"/>
        </a:xfrm>
      </p:grpSpPr>
      <p:sp>
        <p:nvSpPr>
          <p:cNvPr id="58" name="Google Shape;58;p14"/>
          <p:cNvSpPr/>
          <p:nvPr/>
        </p:nvSpPr>
        <p:spPr>
          <a:xfrm>
            <a:off x="3962044" y="1793862"/>
            <a:ext cx="4722900" cy="1329000"/>
          </a:xfrm>
          <a:prstGeom prst="rect">
            <a:avLst/>
          </a:prstGeom>
          <a:noFill/>
          <a:ln>
            <a:noFill/>
          </a:ln>
        </p:spPr>
        <p:txBody>
          <a:bodyPr anchorCtr="0" anchor="t" bIns="0" lIns="0" spcFirstLastPara="1" rIns="0" wrap="square" tIns="0">
            <a:noAutofit/>
          </a:bodyPr>
          <a:lstStyle/>
          <a:p>
            <a:pPr indent="0" lvl="0" marL="0" marR="0" rtl="0" algn="l">
              <a:lnSpc>
                <a:spcPct val="125454"/>
              </a:lnSpc>
              <a:spcBef>
                <a:spcPts val="0"/>
              </a:spcBef>
              <a:spcAft>
                <a:spcPts val="0"/>
              </a:spcAft>
              <a:buClr>
                <a:srgbClr val="484237"/>
              </a:buClr>
              <a:buSzPts val="2750"/>
              <a:buFont typeface="Gelasio"/>
              <a:buNone/>
            </a:pPr>
            <a:r>
              <a:rPr lang="en" sz="2750">
                <a:solidFill>
                  <a:srgbClr val="484237"/>
                </a:solidFill>
                <a:latin typeface="Gelasio"/>
                <a:ea typeface="Gelasio"/>
                <a:cs typeface="Gelasio"/>
                <a:sym typeface="Gelasio"/>
              </a:rPr>
              <a:t>Analyzing</a:t>
            </a:r>
            <a:r>
              <a:rPr b="0" i="0" lang="en" sz="2750" u="none" cap="none" strike="noStrike">
                <a:solidFill>
                  <a:srgbClr val="484237"/>
                </a:solidFill>
                <a:latin typeface="Gelasio"/>
                <a:ea typeface="Gelasio"/>
                <a:cs typeface="Gelasio"/>
                <a:sym typeface="Gelasio"/>
              </a:rPr>
              <a:t> Factors that Affect Sleep Duration</a:t>
            </a:r>
            <a:endParaRPr b="0" i="0" sz="2750" u="none" cap="none" strike="noStrike"/>
          </a:p>
        </p:txBody>
      </p:sp>
      <p:sp>
        <p:nvSpPr>
          <p:cNvPr id="59" name="Google Shape;59;p14"/>
          <p:cNvSpPr/>
          <p:nvPr/>
        </p:nvSpPr>
        <p:spPr>
          <a:xfrm>
            <a:off x="3962044" y="3122849"/>
            <a:ext cx="4722900" cy="226800"/>
          </a:xfrm>
          <a:prstGeom prst="rect">
            <a:avLst/>
          </a:prstGeom>
          <a:noFill/>
          <a:ln>
            <a:noFill/>
          </a:ln>
        </p:spPr>
        <p:txBody>
          <a:bodyPr anchorCtr="0" anchor="t" bIns="0" lIns="0" spcFirstLastPara="1" rIns="0" wrap="square" tIns="0">
            <a:noAutofit/>
          </a:bodyPr>
          <a:lstStyle/>
          <a:p>
            <a:pPr indent="0" lvl="0" marL="0" marR="0" rtl="0" algn="l">
              <a:lnSpc>
                <a:spcPct val="159090"/>
              </a:lnSpc>
              <a:spcBef>
                <a:spcPts val="0"/>
              </a:spcBef>
              <a:spcAft>
                <a:spcPts val="0"/>
              </a:spcAft>
              <a:buClr>
                <a:srgbClr val="746558"/>
              </a:buClr>
              <a:buSzPts val="1100"/>
              <a:buFont typeface="Gelasio"/>
              <a:buNone/>
            </a:pPr>
            <a:r>
              <a:rPr b="0" i="0" lang="en" sz="1100" u="none" cap="none" strike="noStrike">
                <a:solidFill>
                  <a:srgbClr val="746558"/>
                </a:solidFill>
                <a:latin typeface="Gelasio"/>
                <a:ea typeface="Gelasio"/>
                <a:cs typeface="Gelasio"/>
                <a:sym typeface="Gelasio"/>
              </a:rPr>
              <a:t>By: Kyle Tam &amp; Andre Smith</a:t>
            </a:r>
            <a:endParaRPr b="0" i="0" sz="1100" u="none" cap="none" strike="noStrike"/>
          </a:p>
        </p:txBody>
      </p:sp>
      <p:pic>
        <p:nvPicPr>
          <p:cNvPr descr="Sick man suffering flu cold headache, sleepless ill guy lying in bed under blanket (Provided by Getty Images)" id="60" name="Google Shape;60;p14"/>
          <p:cNvPicPr preferRelativeResize="0"/>
          <p:nvPr/>
        </p:nvPicPr>
        <p:blipFill>
          <a:blip r:embed="rId3">
            <a:alphaModFix/>
          </a:blip>
          <a:stretch>
            <a:fillRect/>
          </a:stretch>
        </p:blipFill>
        <p:spPr>
          <a:xfrm>
            <a:off x="195500" y="1374394"/>
            <a:ext cx="3657242" cy="216791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0"/>
        </a:solidFill>
      </p:bgPr>
    </p:bg>
    <p:spTree>
      <p:nvGrpSpPr>
        <p:cNvPr id="64" name="Shape 64"/>
        <p:cNvGrpSpPr/>
        <p:nvPr/>
      </p:nvGrpSpPr>
      <p:grpSpPr>
        <a:xfrm>
          <a:off x="0" y="0"/>
          <a:ext cx="0" cy="0"/>
          <a:chOff x="0" y="0"/>
          <a:chExt cx="0" cy="0"/>
        </a:xfrm>
      </p:grpSpPr>
      <p:sp>
        <p:nvSpPr>
          <p:cNvPr id="65" name="Google Shape;65;p15"/>
          <p:cNvSpPr/>
          <p:nvPr/>
        </p:nvSpPr>
        <p:spPr>
          <a:xfrm>
            <a:off x="493706" y="1487550"/>
            <a:ext cx="3544200" cy="443100"/>
          </a:xfrm>
          <a:prstGeom prst="rect">
            <a:avLst/>
          </a:prstGeom>
          <a:noFill/>
          <a:ln>
            <a:noFill/>
          </a:ln>
        </p:spPr>
        <p:txBody>
          <a:bodyPr anchorCtr="0" anchor="t" bIns="0" lIns="0" spcFirstLastPara="1" rIns="0" wrap="square" tIns="0">
            <a:noAutofit/>
          </a:bodyPr>
          <a:lstStyle/>
          <a:p>
            <a:pPr indent="0" lvl="0" marL="0" marR="0" rtl="0" algn="l">
              <a:lnSpc>
                <a:spcPct val="125454"/>
              </a:lnSpc>
              <a:spcBef>
                <a:spcPts val="0"/>
              </a:spcBef>
              <a:spcAft>
                <a:spcPts val="0"/>
              </a:spcAft>
              <a:buClr>
                <a:srgbClr val="484237"/>
              </a:buClr>
              <a:buSzPts val="2750"/>
              <a:buFont typeface="Gelasio"/>
              <a:buNone/>
            </a:pPr>
            <a:r>
              <a:rPr b="0" i="0" lang="en" sz="2750" u="none" cap="none" strike="noStrike">
                <a:solidFill>
                  <a:srgbClr val="746558"/>
                </a:solidFill>
                <a:latin typeface="Gelasio"/>
                <a:ea typeface="Gelasio"/>
                <a:cs typeface="Gelasio"/>
                <a:sym typeface="Gelasio"/>
              </a:rPr>
              <a:t>Project Overview</a:t>
            </a:r>
            <a:endParaRPr b="0" i="0" sz="2750" u="none" cap="none" strike="noStrike">
              <a:solidFill>
                <a:srgbClr val="746558"/>
              </a:solidFill>
            </a:endParaRPr>
          </a:p>
        </p:txBody>
      </p:sp>
      <p:sp>
        <p:nvSpPr>
          <p:cNvPr id="66" name="Google Shape;66;p15"/>
          <p:cNvSpPr/>
          <p:nvPr/>
        </p:nvSpPr>
        <p:spPr>
          <a:xfrm>
            <a:off x="493706" y="2284897"/>
            <a:ext cx="1772100" cy="22140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484237"/>
              </a:buClr>
              <a:buSzPts val="1350"/>
              <a:buFont typeface="Gelasio"/>
              <a:buNone/>
            </a:pPr>
            <a:r>
              <a:rPr b="0" i="0" lang="en" sz="1350" u="none" cap="none" strike="noStrike">
                <a:solidFill>
                  <a:srgbClr val="746558"/>
                </a:solidFill>
                <a:latin typeface="Gelasio"/>
                <a:ea typeface="Gelasio"/>
                <a:cs typeface="Gelasio"/>
                <a:sym typeface="Gelasio"/>
              </a:rPr>
              <a:t>Problem Statement</a:t>
            </a:r>
            <a:endParaRPr b="0" i="0" sz="1350" u="none" cap="none" strike="noStrike">
              <a:solidFill>
                <a:srgbClr val="746558"/>
              </a:solidFill>
            </a:endParaRPr>
          </a:p>
        </p:txBody>
      </p:sp>
      <p:sp>
        <p:nvSpPr>
          <p:cNvPr id="67" name="Google Shape;67;p15"/>
          <p:cNvSpPr/>
          <p:nvPr/>
        </p:nvSpPr>
        <p:spPr>
          <a:xfrm>
            <a:off x="493706" y="2648112"/>
            <a:ext cx="3903000" cy="453600"/>
          </a:xfrm>
          <a:prstGeom prst="rect">
            <a:avLst/>
          </a:prstGeom>
          <a:noFill/>
          <a:ln>
            <a:noFill/>
          </a:ln>
        </p:spPr>
        <p:txBody>
          <a:bodyPr anchorCtr="0" anchor="t" bIns="0" lIns="0" spcFirstLastPara="1" rIns="0" wrap="square" tIns="0">
            <a:noAutofit/>
          </a:bodyPr>
          <a:lstStyle/>
          <a:p>
            <a:pPr indent="0" lvl="0" marL="0" rtl="0" algn="l">
              <a:lnSpc>
                <a:spcPct val="159000"/>
              </a:lnSpc>
              <a:spcBef>
                <a:spcPts val="0"/>
              </a:spcBef>
              <a:spcAft>
                <a:spcPts val="0"/>
              </a:spcAft>
              <a:buClr>
                <a:schemeClr val="dk1"/>
              </a:buClr>
              <a:buSzPts val="1100"/>
              <a:buFont typeface="Arial"/>
              <a:buNone/>
            </a:pPr>
            <a:r>
              <a:rPr lang="en" sz="1100">
                <a:solidFill>
                  <a:srgbClr val="746558"/>
                </a:solidFill>
                <a:latin typeface="Gelasio"/>
                <a:ea typeface="Gelasio"/>
                <a:cs typeface="Gelasio"/>
                <a:sym typeface="Gelasio"/>
              </a:rPr>
              <a:t>This project examines how demographic, behavioral, and health-related factors such as age, physical activity, stress level, and BMI affect sleep duration. The objective is to identify which variables are most impactful in order to better understand patterns associated with healthy sleep.</a:t>
            </a:r>
            <a:endParaRPr sz="1100">
              <a:solidFill>
                <a:srgbClr val="746558"/>
              </a:solidFill>
              <a:latin typeface="Gelasio"/>
              <a:ea typeface="Gelasio"/>
              <a:cs typeface="Gelasio"/>
              <a:sym typeface="Gelasio"/>
            </a:endParaRPr>
          </a:p>
          <a:p>
            <a:pPr indent="0" lvl="0" marL="0" marR="0" rtl="0" algn="l">
              <a:lnSpc>
                <a:spcPct val="159090"/>
              </a:lnSpc>
              <a:spcBef>
                <a:spcPts val="0"/>
              </a:spcBef>
              <a:spcAft>
                <a:spcPts val="0"/>
              </a:spcAft>
              <a:buClr>
                <a:srgbClr val="746558"/>
              </a:buClr>
              <a:buSzPts val="1100"/>
              <a:buFont typeface="Gelasio"/>
              <a:buNone/>
            </a:pPr>
            <a:r>
              <a:t/>
            </a:r>
            <a:endParaRPr sz="1100">
              <a:solidFill>
                <a:srgbClr val="746558"/>
              </a:solidFill>
              <a:latin typeface="Gelasio"/>
              <a:ea typeface="Gelasio"/>
              <a:cs typeface="Gelasio"/>
              <a:sym typeface="Gelasio"/>
            </a:endParaRPr>
          </a:p>
        </p:txBody>
      </p:sp>
      <p:sp>
        <p:nvSpPr>
          <p:cNvPr id="68" name="Google Shape;68;p15"/>
          <p:cNvSpPr/>
          <p:nvPr/>
        </p:nvSpPr>
        <p:spPr>
          <a:xfrm>
            <a:off x="4747289" y="2284897"/>
            <a:ext cx="1772100" cy="22140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484237"/>
              </a:buClr>
              <a:buSzPts val="1350"/>
              <a:buFont typeface="Gelasio"/>
              <a:buNone/>
            </a:pPr>
            <a:r>
              <a:rPr b="0" i="0" lang="en" sz="1350" u="none" cap="none" strike="noStrike">
                <a:solidFill>
                  <a:srgbClr val="746558"/>
                </a:solidFill>
                <a:latin typeface="Gelasio"/>
                <a:ea typeface="Gelasio"/>
                <a:cs typeface="Gelasio"/>
                <a:sym typeface="Gelasio"/>
              </a:rPr>
              <a:t>Why It Matters</a:t>
            </a:r>
            <a:endParaRPr b="0" i="0" sz="1350" u="none" cap="none" strike="noStrike">
              <a:solidFill>
                <a:srgbClr val="746558"/>
              </a:solidFill>
            </a:endParaRPr>
          </a:p>
        </p:txBody>
      </p:sp>
      <p:sp>
        <p:nvSpPr>
          <p:cNvPr id="69" name="Google Shape;69;p15"/>
          <p:cNvSpPr/>
          <p:nvPr/>
        </p:nvSpPr>
        <p:spPr>
          <a:xfrm>
            <a:off x="4747289" y="2648112"/>
            <a:ext cx="3903000" cy="680400"/>
          </a:xfrm>
          <a:prstGeom prst="rect">
            <a:avLst/>
          </a:prstGeom>
          <a:noFill/>
          <a:ln>
            <a:noFill/>
          </a:ln>
        </p:spPr>
        <p:txBody>
          <a:bodyPr anchorCtr="0" anchor="t" bIns="0" lIns="0" spcFirstLastPara="1" rIns="0" wrap="square" tIns="0">
            <a:noAutofit/>
          </a:bodyPr>
          <a:lstStyle/>
          <a:p>
            <a:pPr indent="-298450" lvl="0" marL="457200" marR="0" rtl="0" algn="l">
              <a:lnSpc>
                <a:spcPct val="159090"/>
              </a:lnSpc>
              <a:spcBef>
                <a:spcPts val="0"/>
              </a:spcBef>
              <a:spcAft>
                <a:spcPts val="0"/>
              </a:spcAft>
              <a:buClr>
                <a:srgbClr val="746558"/>
              </a:buClr>
              <a:buSzPts val="1100"/>
              <a:buChar char="●"/>
            </a:pPr>
            <a:r>
              <a:rPr lang="en" sz="1100">
                <a:solidFill>
                  <a:srgbClr val="746558"/>
                </a:solidFill>
                <a:latin typeface="Gelasio"/>
                <a:ea typeface="Gelasio"/>
                <a:cs typeface="Gelasio"/>
                <a:sym typeface="Gelasio"/>
              </a:rPr>
              <a:t>Sleep plays an important role in physical health, mental health, and daily performance.</a:t>
            </a:r>
            <a:endParaRPr sz="1100">
              <a:solidFill>
                <a:srgbClr val="746558"/>
              </a:solidFill>
              <a:latin typeface="Gelasio"/>
              <a:ea typeface="Gelasio"/>
              <a:cs typeface="Gelasio"/>
              <a:sym typeface="Gelasio"/>
            </a:endParaRPr>
          </a:p>
          <a:p>
            <a:pPr indent="-298450" lvl="0" marL="457200" marR="0" rtl="0" algn="l">
              <a:lnSpc>
                <a:spcPct val="15909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Understanding the factors that influence sleep can help identify </a:t>
            </a:r>
            <a:r>
              <a:rPr lang="en" sz="1100">
                <a:solidFill>
                  <a:srgbClr val="746558"/>
                </a:solidFill>
                <a:latin typeface="Gelasio"/>
                <a:ea typeface="Gelasio"/>
                <a:cs typeface="Gelasio"/>
                <a:sym typeface="Gelasio"/>
              </a:rPr>
              <a:t>healthier</a:t>
            </a:r>
            <a:r>
              <a:rPr lang="en" sz="1100">
                <a:solidFill>
                  <a:srgbClr val="746558"/>
                </a:solidFill>
                <a:latin typeface="Gelasio"/>
                <a:ea typeface="Gelasio"/>
                <a:cs typeface="Gelasio"/>
                <a:sym typeface="Gelasio"/>
              </a:rPr>
              <a:t> lifestyle choices.</a:t>
            </a:r>
            <a:endParaRPr sz="1100">
              <a:solidFill>
                <a:srgbClr val="746558"/>
              </a:solidFill>
              <a:latin typeface="Gelasio"/>
              <a:ea typeface="Gelasio"/>
              <a:cs typeface="Gelasio"/>
              <a:sym typeface="Gelasi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0"/>
        </a:solidFill>
      </p:bgPr>
    </p:bg>
    <p:spTree>
      <p:nvGrpSpPr>
        <p:cNvPr id="73" name="Shape 73"/>
        <p:cNvGrpSpPr/>
        <p:nvPr/>
      </p:nvGrpSpPr>
      <p:grpSpPr>
        <a:xfrm>
          <a:off x="0" y="0"/>
          <a:ext cx="0" cy="0"/>
          <a:chOff x="0" y="0"/>
          <a:chExt cx="0" cy="0"/>
        </a:xfrm>
      </p:grpSpPr>
      <p:sp>
        <p:nvSpPr>
          <p:cNvPr id="74" name="Google Shape;74;p16"/>
          <p:cNvSpPr/>
          <p:nvPr/>
        </p:nvSpPr>
        <p:spPr>
          <a:xfrm>
            <a:off x="496119" y="753740"/>
            <a:ext cx="3544200" cy="443100"/>
          </a:xfrm>
          <a:prstGeom prst="rect">
            <a:avLst/>
          </a:prstGeom>
          <a:noFill/>
          <a:ln>
            <a:noFill/>
          </a:ln>
        </p:spPr>
        <p:txBody>
          <a:bodyPr anchorCtr="0" anchor="t" bIns="0" lIns="0" spcFirstLastPara="1" rIns="0" wrap="square" tIns="0">
            <a:noAutofit/>
          </a:bodyPr>
          <a:lstStyle/>
          <a:p>
            <a:pPr indent="0" lvl="0" marL="0" marR="0" rtl="0" algn="l">
              <a:lnSpc>
                <a:spcPct val="125454"/>
              </a:lnSpc>
              <a:spcBef>
                <a:spcPts val="0"/>
              </a:spcBef>
              <a:spcAft>
                <a:spcPts val="0"/>
              </a:spcAft>
              <a:buClr>
                <a:srgbClr val="484237"/>
              </a:buClr>
              <a:buSzPts val="2750"/>
              <a:buFont typeface="Gelasio"/>
              <a:buNone/>
            </a:pPr>
            <a:r>
              <a:rPr b="0" i="0" lang="en" sz="2750" u="none" cap="none" strike="noStrike">
                <a:solidFill>
                  <a:srgbClr val="484237"/>
                </a:solidFill>
                <a:latin typeface="Gelasio"/>
                <a:ea typeface="Gelasio"/>
                <a:cs typeface="Gelasio"/>
                <a:sym typeface="Gelasio"/>
              </a:rPr>
              <a:t>Data</a:t>
            </a:r>
            <a:r>
              <a:rPr lang="en" sz="2750">
                <a:solidFill>
                  <a:srgbClr val="484237"/>
                </a:solidFill>
                <a:latin typeface="Gelasio"/>
                <a:ea typeface="Gelasio"/>
                <a:cs typeface="Gelasio"/>
                <a:sym typeface="Gelasio"/>
              </a:rPr>
              <a:t>set</a:t>
            </a:r>
            <a:r>
              <a:rPr b="0" i="0" lang="en" sz="2750" u="none" cap="none" strike="noStrike">
                <a:solidFill>
                  <a:srgbClr val="484237"/>
                </a:solidFill>
                <a:latin typeface="Gelasio"/>
                <a:ea typeface="Gelasio"/>
                <a:cs typeface="Gelasio"/>
                <a:sym typeface="Gelasio"/>
              </a:rPr>
              <a:t> Overview</a:t>
            </a:r>
            <a:endParaRPr b="0" i="0" sz="2750" u="none" cap="none" strike="noStrike"/>
          </a:p>
        </p:txBody>
      </p:sp>
      <p:sp>
        <p:nvSpPr>
          <p:cNvPr id="75" name="Google Shape;75;p16"/>
          <p:cNvSpPr/>
          <p:nvPr/>
        </p:nvSpPr>
        <p:spPr>
          <a:xfrm>
            <a:off x="496119" y="1480245"/>
            <a:ext cx="2622600" cy="923400"/>
          </a:xfrm>
          <a:prstGeom prst="roundRect">
            <a:avLst>
              <a:gd fmla="val 1537" name="adj"/>
            </a:avLst>
          </a:prstGeom>
          <a:solidFill>
            <a:srgbClr val="EE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6"/>
          <p:cNvSpPr/>
          <p:nvPr/>
        </p:nvSpPr>
        <p:spPr>
          <a:xfrm>
            <a:off x="1521552" y="1782851"/>
            <a:ext cx="1828800" cy="228600"/>
          </a:xfrm>
          <a:prstGeom prst="rect">
            <a:avLst/>
          </a:prstGeom>
          <a:noFill/>
          <a:ln>
            <a:noFill/>
          </a:ln>
        </p:spPr>
        <p:txBody>
          <a:bodyPr anchorCtr="0" anchor="t" bIns="0" lIns="0" spcFirstLastPara="1" rIns="0" wrap="square" tIns="0">
            <a:noAutofit/>
          </a:bodyPr>
          <a:lstStyle/>
          <a:p>
            <a:pPr indent="0" lvl="0" marL="0" marR="0" rtl="0" algn="l">
              <a:lnSpc>
                <a:spcPct val="200000"/>
              </a:lnSpc>
              <a:spcBef>
                <a:spcPts val="0"/>
              </a:spcBef>
              <a:spcAft>
                <a:spcPts val="0"/>
              </a:spcAft>
              <a:buClr>
                <a:srgbClr val="746558"/>
              </a:buClr>
              <a:buSzPts val="1350"/>
              <a:buFont typeface="Gelasio"/>
              <a:buNone/>
            </a:pPr>
            <a:r>
              <a:rPr lang="en" sz="1350">
                <a:solidFill>
                  <a:srgbClr val="746558"/>
                </a:solidFill>
                <a:latin typeface="Gelasio"/>
                <a:ea typeface="Gelasio"/>
                <a:cs typeface="Gelasio"/>
                <a:sym typeface="Gelasio"/>
              </a:rPr>
              <a:t>Age</a:t>
            </a:r>
            <a:endParaRPr sz="1350">
              <a:solidFill>
                <a:srgbClr val="746558"/>
              </a:solidFill>
              <a:latin typeface="Gelasio"/>
              <a:ea typeface="Gelasio"/>
              <a:cs typeface="Gelasio"/>
              <a:sym typeface="Gelasio"/>
            </a:endParaRPr>
          </a:p>
        </p:txBody>
      </p:sp>
      <p:sp>
        <p:nvSpPr>
          <p:cNvPr id="77" name="Google Shape;77;p16"/>
          <p:cNvSpPr/>
          <p:nvPr/>
        </p:nvSpPr>
        <p:spPr>
          <a:xfrm>
            <a:off x="3260601" y="1480245"/>
            <a:ext cx="2622600" cy="923400"/>
          </a:xfrm>
          <a:prstGeom prst="roundRect">
            <a:avLst>
              <a:gd fmla="val 1537" name="adj"/>
            </a:avLst>
          </a:prstGeom>
          <a:solidFill>
            <a:srgbClr val="EE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6"/>
          <p:cNvSpPr/>
          <p:nvPr/>
        </p:nvSpPr>
        <p:spPr>
          <a:xfrm>
            <a:off x="4194487" y="1827638"/>
            <a:ext cx="1828800" cy="22860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746558"/>
              </a:buClr>
              <a:buSzPts val="1350"/>
              <a:buFont typeface="Gelasio"/>
              <a:buNone/>
            </a:pPr>
            <a:r>
              <a:rPr lang="en" sz="1350">
                <a:solidFill>
                  <a:srgbClr val="746558"/>
                </a:solidFill>
                <a:latin typeface="Gelasio"/>
                <a:ea typeface="Gelasio"/>
                <a:cs typeface="Gelasio"/>
                <a:sym typeface="Gelasio"/>
              </a:rPr>
              <a:t>Gender</a:t>
            </a:r>
            <a:endParaRPr b="0" i="0" sz="1350" u="none" cap="none" strike="noStrike"/>
          </a:p>
        </p:txBody>
      </p:sp>
      <p:sp>
        <p:nvSpPr>
          <p:cNvPr id="79" name="Google Shape;79;p16"/>
          <p:cNvSpPr/>
          <p:nvPr/>
        </p:nvSpPr>
        <p:spPr>
          <a:xfrm>
            <a:off x="6025083" y="1480245"/>
            <a:ext cx="2622600" cy="923400"/>
          </a:xfrm>
          <a:prstGeom prst="roundRect">
            <a:avLst>
              <a:gd fmla="val 1537" name="adj"/>
            </a:avLst>
          </a:prstGeom>
          <a:solidFill>
            <a:srgbClr val="EE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p:nvPr/>
        </p:nvSpPr>
        <p:spPr>
          <a:xfrm>
            <a:off x="6818875" y="1782838"/>
            <a:ext cx="1828800" cy="22860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746558"/>
              </a:buClr>
              <a:buSzPts val="1350"/>
              <a:buFont typeface="Gelasio"/>
              <a:buNone/>
            </a:pPr>
            <a:r>
              <a:rPr lang="en" sz="1350">
                <a:solidFill>
                  <a:srgbClr val="746558"/>
                </a:solidFill>
                <a:latin typeface="Gelasio"/>
                <a:ea typeface="Gelasio"/>
                <a:cs typeface="Gelasio"/>
                <a:sym typeface="Gelasio"/>
              </a:rPr>
              <a:t>Physical Activity</a:t>
            </a:r>
            <a:endParaRPr b="0" i="0" sz="1350" u="none" cap="none" strike="noStrike"/>
          </a:p>
        </p:txBody>
      </p:sp>
      <p:sp>
        <p:nvSpPr>
          <p:cNvPr id="81" name="Google Shape;81;p16"/>
          <p:cNvSpPr/>
          <p:nvPr/>
        </p:nvSpPr>
        <p:spPr>
          <a:xfrm>
            <a:off x="496119" y="2597470"/>
            <a:ext cx="2624400" cy="923400"/>
          </a:xfrm>
          <a:prstGeom prst="roundRect">
            <a:avLst>
              <a:gd fmla="val 1537" name="adj"/>
            </a:avLst>
          </a:prstGeom>
          <a:solidFill>
            <a:srgbClr val="EE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p:nvPr/>
        </p:nvSpPr>
        <p:spPr>
          <a:xfrm>
            <a:off x="637877" y="3714676"/>
            <a:ext cx="1772100" cy="22140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746558"/>
              </a:buClr>
              <a:buSzPts val="1350"/>
              <a:buFont typeface="Gelasio"/>
              <a:buNone/>
            </a:pPr>
            <a:r>
              <a:rPr b="0" i="0" lang="en" sz="1350" u="none" cap="none" strike="noStrike">
                <a:solidFill>
                  <a:srgbClr val="746558"/>
                </a:solidFill>
                <a:latin typeface="Gelasio"/>
                <a:ea typeface="Gelasio"/>
                <a:cs typeface="Gelasio"/>
                <a:sym typeface="Gelasio"/>
              </a:rPr>
              <a:t>Stress Level</a:t>
            </a:r>
            <a:endParaRPr b="0" i="0" sz="1350" u="none" cap="none" strike="noStrike"/>
          </a:p>
        </p:txBody>
      </p:sp>
      <p:sp>
        <p:nvSpPr>
          <p:cNvPr id="83" name="Google Shape;83;p16"/>
          <p:cNvSpPr/>
          <p:nvPr/>
        </p:nvSpPr>
        <p:spPr>
          <a:xfrm>
            <a:off x="3259792" y="2597470"/>
            <a:ext cx="2624400" cy="923400"/>
          </a:xfrm>
          <a:prstGeom prst="roundRect">
            <a:avLst>
              <a:gd fmla="val 1537" name="adj"/>
            </a:avLst>
          </a:prstGeom>
          <a:solidFill>
            <a:srgbClr val="EE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6"/>
          <p:cNvSpPr/>
          <p:nvPr/>
        </p:nvSpPr>
        <p:spPr>
          <a:xfrm>
            <a:off x="6023467" y="2597470"/>
            <a:ext cx="2624400" cy="923400"/>
          </a:xfrm>
          <a:prstGeom prst="roundRect">
            <a:avLst>
              <a:gd fmla="val 1537" name="adj"/>
            </a:avLst>
          </a:prstGeom>
          <a:solidFill>
            <a:srgbClr val="EE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6"/>
          <p:cNvSpPr/>
          <p:nvPr/>
        </p:nvSpPr>
        <p:spPr>
          <a:xfrm>
            <a:off x="496117" y="3707907"/>
            <a:ext cx="2624400" cy="923400"/>
          </a:xfrm>
          <a:prstGeom prst="roundRect">
            <a:avLst>
              <a:gd fmla="val 1537" name="adj"/>
            </a:avLst>
          </a:prstGeom>
          <a:solidFill>
            <a:srgbClr val="EE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p:nvPr/>
        </p:nvSpPr>
        <p:spPr>
          <a:xfrm>
            <a:off x="3259692" y="3707907"/>
            <a:ext cx="2624400" cy="923400"/>
          </a:xfrm>
          <a:prstGeom prst="roundRect">
            <a:avLst>
              <a:gd fmla="val 1537" name="adj"/>
            </a:avLst>
          </a:prstGeom>
          <a:solidFill>
            <a:srgbClr val="EE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6"/>
          <p:cNvSpPr/>
          <p:nvPr/>
        </p:nvSpPr>
        <p:spPr>
          <a:xfrm>
            <a:off x="6023267" y="3707907"/>
            <a:ext cx="2624400" cy="923400"/>
          </a:xfrm>
          <a:prstGeom prst="roundRect">
            <a:avLst>
              <a:gd fmla="val 1537" name="adj"/>
            </a:avLst>
          </a:prstGeom>
          <a:solidFill>
            <a:srgbClr val="EE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
          <p:cNvSpPr/>
          <p:nvPr/>
        </p:nvSpPr>
        <p:spPr>
          <a:xfrm>
            <a:off x="1413976" y="2941475"/>
            <a:ext cx="1054800" cy="22860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746558"/>
              </a:buClr>
              <a:buSzPts val="1350"/>
              <a:buFont typeface="Gelasio"/>
              <a:buNone/>
            </a:pPr>
            <a:r>
              <a:rPr lang="en" sz="1350">
                <a:solidFill>
                  <a:srgbClr val="746558"/>
                </a:solidFill>
                <a:latin typeface="Gelasio"/>
                <a:ea typeface="Gelasio"/>
                <a:cs typeface="Gelasio"/>
                <a:sym typeface="Gelasio"/>
              </a:rPr>
              <a:t>Stress Level</a:t>
            </a:r>
            <a:endParaRPr b="0" i="0" sz="1350" u="none" cap="none" strike="noStrike"/>
          </a:p>
        </p:txBody>
      </p:sp>
      <p:sp>
        <p:nvSpPr>
          <p:cNvPr id="89" name="Google Shape;89;p16"/>
          <p:cNvSpPr/>
          <p:nvPr/>
        </p:nvSpPr>
        <p:spPr>
          <a:xfrm>
            <a:off x="4276734" y="2941475"/>
            <a:ext cx="460800" cy="22860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746558"/>
              </a:buClr>
              <a:buSzPts val="1350"/>
              <a:buFont typeface="Gelasio"/>
              <a:buNone/>
            </a:pPr>
            <a:r>
              <a:rPr lang="en" sz="1350">
                <a:solidFill>
                  <a:srgbClr val="746558"/>
                </a:solidFill>
                <a:latin typeface="Gelasio"/>
                <a:ea typeface="Gelasio"/>
                <a:cs typeface="Gelasio"/>
                <a:sym typeface="Gelasio"/>
              </a:rPr>
              <a:t>BMI</a:t>
            </a:r>
            <a:endParaRPr b="0" i="0" sz="1350" u="none" cap="none" strike="noStrike"/>
          </a:p>
        </p:txBody>
      </p:sp>
      <p:sp>
        <p:nvSpPr>
          <p:cNvPr id="90" name="Google Shape;90;p16"/>
          <p:cNvSpPr/>
          <p:nvPr/>
        </p:nvSpPr>
        <p:spPr>
          <a:xfrm>
            <a:off x="6985800" y="2941481"/>
            <a:ext cx="1828800" cy="22860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746558"/>
              </a:buClr>
              <a:buSzPts val="1350"/>
              <a:buFont typeface="Gelasio"/>
              <a:buNone/>
            </a:pPr>
            <a:r>
              <a:rPr lang="en" sz="1350">
                <a:solidFill>
                  <a:srgbClr val="746558"/>
                </a:solidFill>
                <a:latin typeface="Gelasio"/>
                <a:ea typeface="Gelasio"/>
                <a:cs typeface="Gelasio"/>
                <a:sym typeface="Gelasio"/>
              </a:rPr>
              <a:t>Blood Pressure</a:t>
            </a:r>
            <a:endParaRPr b="0" i="0" sz="1350" u="none" cap="none" strike="noStrike"/>
          </a:p>
        </p:txBody>
      </p:sp>
      <p:sp>
        <p:nvSpPr>
          <p:cNvPr id="91" name="Google Shape;91;p16"/>
          <p:cNvSpPr/>
          <p:nvPr/>
        </p:nvSpPr>
        <p:spPr>
          <a:xfrm>
            <a:off x="1515877" y="4055300"/>
            <a:ext cx="1207800" cy="22860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746558"/>
              </a:buClr>
              <a:buSzPts val="1350"/>
              <a:buFont typeface="Gelasio"/>
              <a:buNone/>
            </a:pPr>
            <a:r>
              <a:rPr lang="en" sz="1350">
                <a:solidFill>
                  <a:srgbClr val="746558"/>
                </a:solidFill>
                <a:latin typeface="Gelasio"/>
                <a:ea typeface="Gelasio"/>
                <a:cs typeface="Gelasio"/>
                <a:sym typeface="Gelasio"/>
              </a:rPr>
              <a:t>Heart Rate</a:t>
            </a:r>
            <a:endParaRPr b="0" i="0" sz="1350" u="none" cap="none" strike="noStrike"/>
          </a:p>
        </p:txBody>
      </p:sp>
      <p:sp>
        <p:nvSpPr>
          <p:cNvPr id="92" name="Google Shape;92;p16"/>
          <p:cNvSpPr/>
          <p:nvPr/>
        </p:nvSpPr>
        <p:spPr>
          <a:xfrm>
            <a:off x="4194475" y="4062099"/>
            <a:ext cx="1828800" cy="22860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746558"/>
              </a:buClr>
              <a:buSzPts val="1350"/>
              <a:buFont typeface="Gelasio"/>
              <a:buNone/>
            </a:pPr>
            <a:r>
              <a:rPr lang="en" sz="1350">
                <a:solidFill>
                  <a:srgbClr val="746558"/>
                </a:solidFill>
                <a:latin typeface="Gelasio"/>
                <a:ea typeface="Gelasio"/>
                <a:cs typeface="Gelasio"/>
                <a:sym typeface="Gelasio"/>
              </a:rPr>
              <a:t>Daily Steps</a:t>
            </a:r>
            <a:endParaRPr b="0" i="0" sz="1350" u="none" cap="none" strike="noStrike"/>
          </a:p>
        </p:txBody>
      </p:sp>
      <p:sp>
        <p:nvSpPr>
          <p:cNvPr id="93" name="Google Shape;93;p16"/>
          <p:cNvSpPr/>
          <p:nvPr/>
        </p:nvSpPr>
        <p:spPr>
          <a:xfrm>
            <a:off x="6985800" y="4055299"/>
            <a:ext cx="1828800" cy="22860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746558"/>
              </a:buClr>
              <a:buSzPts val="1350"/>
              <a:buFont typeface="Gelasio"/>
              <a:buNone/>
            </a:pPr>
            <a:r>
              <a:rPr lang="en" sz="1350">
                <a:solidFill>
                  <a:srgbClr val="746558"/>
                </a:solidFill>
                <a:latin typeface="Gelasio"/>
                <a:ea typeface="Gelasio"/>
                <a:cs typeface="Gelasio"/>
                <a:sym typeface="Gelasio"/>
              </a:rPr>
              <a:t>Sleep Disorder</a:t>
            </a:r>
            <a:endParaRPr b="0" i="0" sz="1350" u="none" cap="none" strike="noStrike"/>
          </a:p>
        </p:txBody>
      </p:sp>
      <p:pic>
        <p:nvPicPr>
          <p:cNvPr descr="preencoded.png" id="94" name="Google Shape;94;p16"/>
          <p:cNvPicPr preferRelativeResize="0"/>
          <p:nvPr/>
        </p:nvPicPr>
        <p:blipFill rotWithShape="1">
          <a:blip r:embed="rId3">
            <a:alphaModFix/>
          </a:blip>
          <a:srcRect b="0" l="0" r="0" t="0"/>
          <a:stretch/>
        </p:blipFill>
        <p:spPr>
          <a:xfrm>
            <a:off x="687271" y="1750852"/>
            <a:ext cx="292608" cy="292608"/>
          </a:xfrm>
          <a:prstGeom prst="rect">
            <a:avLst/>
          </a:prstGeom>
          <a:noFill/>
          <a:ln cap="flat" cmpd="sng" w="9525">
            <a:solidFill>
              <a:srgbClr val="EEE8DD"/>
            </a:solidFill>
            <a:prstDash val="solid"/>
            <a:round/>
            <a:headEnd len="sm" w="sm" type="none"/>
            <a:tailEnd len="sm" w="sm" type="none"/>
          </a:ln>
        </p:spPr>
      </p:pic>
      <p:pic>
        <p:nvPicPr>
          <p:cNvPr descr="preencoded.png" id="95" name="Google Shape;95;p16"/>
          <p:cNvPicPr preferRelativeResize="0"/>
          <p:nvPr/>
        </p:nvPicPr>
        <p:blipFill rotWithShape="1">
          <a:blip r:embed="rId4">
            <a:alphaModFix/>
          </a:blip>
          <a:srcRect b="0" l="0" r="0" t="0"/>
          <a:stretch/>
        </p:blipFill>
        <p:spPr>
          <a:xfrm>
            <a:off x="3510301" y="1795640"/>
            <a:ext cx="292608" cy="292608"/>
          </a:xfrm>
          <a:prstGeom prst="rect">
            <a:avLst/>
          </a:prstGeom>
          <a:noFill/>
          <a:ln cap="flat" cmpd="sng" w="9525">
            <a:solidFill>
              <a:srgbClr val="EEE8DD"/>
            </a:solidFill>
            <a:prstDash val="solid"/>
            <a:round/>
            <a:headEnd len="sm" w="sm" type="none"/>
            <a:tailEnd len="sm" w="sm" type="none"/>
          </a:ln>
        </p:spPr>
      </p:pic>
      <p:pic>
        <p:nvPicPr>
          <p:cNvPr descr="preencoded.png" id="96" name="Google Shape;96;p16"/>
          <p:cNvPicPr preferRelativeResize="0"/>
          <p:nvPr/>
        </p:nvPicPr>
        <p:blipFill rotWithShape="1">
          <a:blip r:embed="rId5">
            <a:alphaModFix/>
          </a:blip>
          <a:srcRect b="0" l="0" r="0" t="0"/>
          <a:stretch/>
        </p:blipFill>
        <p:spPr>
          <a:xfrm>
            <a:off x="6310831" y="1795652"/>
            <a:ext cx="292608" cy="292608"/>
          </a:xfrm>
          <a:prstGeom prst="rect">
            <a:avLst/>
          </a:prstGeom>
          <a:noFill/>
          <a:ln cap="flat" cmpd="sng" w="9525">
            <a:solidFill>
              <a:srgbClr val="EEE8DD"/>
            </a:solidFill>
            <a:prstDash val="solid"/>
            <a:round/>
            <a:headEnd len="sm" w="sm" type="none"/>
            <a:tailEnd len="sm" w="sm" type="none"/>
          </a:ln>
        </p:spPr>
      </p:pic>
      <p:sp>
        <p:nvSpPr>
          <p:cNvPr id="97" name="Google Shape;97;p16"/>
          <p:cNvSpPr txBox="1"/>
          <p:nvPr/>
        </p:nvSpPr>
        <p:spPr>
          <a:xfrm>
            <a:off x="1413975" y="2029750"/>
            <a:ext cx="1419000" cy="30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800">
                <a:solidFill>
                  <a:srgbClr val="746558"/>
                </a:solidFill>
                <a:latin typeface="Gelasio"/>
                <a:ea typeface="Gelasio"/>
                <a:cs typeface="Gelasio"/>
                <a:sym typeface="Gelasio"/>
              </a:rPr>
              <a:t>Patient age in Years </a:t>
            </a:r>
            <a:endParaRPr sz="1200"/>
          </a:p>
        </p:txBody>
      </p:sp>
      <p:sp>
        <p:nvSpPr>
          <p:cNvPr id="98" name="Google Shape;98;p16"/>
          <p:cNvSpPr txBox="1"/>
          <p:nvPr/>
        </p:nvSpPr>
        <p:spPr>
          <a:xfrm>
            <a:off x="4134038" y="2029750"/>
            <a:ext cx="1419000" cy="30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800">
                <a:solidFill>
                  <a:srgbClr val="746558"/>
                </a:solidFill>
                <a:latin typeface="Gelasio"/>
                <a:ea typeface="Gelasio"/>
                <a:cs typeface="Gelasio"/>
                <a:sym typeface="Gelasio"/>
              </a:rPr>
              <a:t>Male / Female</a:t>
            </a:r>
            <a:endParaRPr sz="1200"/>
          </a:p>
        </p:txBody>
      </p:sp>
      <p:sp>
        <p:nvSpPr>
          <p:cNvPr id="99" name="Google Shape;99;p16"/>
          <p:cNvSpPr txBox="1"/>
          <p:nvPr/>
        </p:nvSpPr>
        <p:spPr>
          <a:xfrm>
            <a:off x="6760500" y="2029750"/>
            <a:ext cx="1419000" cy="30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800">
                <a:solidFill>
                  <a:srgbClr val="746558"/>
                </a:solidFill>
                <a:latin typeface="Gelasio"/>
                <a:ea typeface="Gelasio"/>
                <a:cs typeface="Gelasio"/>
                <a:sym typeface="Gelasio"/>
              </a:rPr>
              <a:t>Daily activity level</a:t>
            </a:r>
            <a:endParaRPr sz="1200"/>
          </a:p>
        </p:txBody>
      </p:sp>
      <p:pic>
        <p:nvPicPr>
          <p:cNvPr descr="preencoded.png" id="100" name="Google Shape;100;p16"/>
          <p:cNvPicPr preferRelativeResize="0"/>
          <p:nvPr/>
        </p:nvPicPr>
        <p:blipFill rotWithShape="1">
          <a:blip r:embed="rId6">
            <a:alphaModFix/>
          </a:blip>
          <a:srcRect b="0" l="0" r="0" t="0"/>
          <a:stretch/>
        </p:blipFill>
        <p:spPr>
          <a:xfrm>
            <a:off x="687271" y="2912862"/>
            <a:ext cx="292608" cy="292608"/>
          </a:xfrm>
          <a:prstGeom prst="rect">
            <a:avLst/>
          </a:prstGeom>
          <a:noFill/>
          <a:ln cap="flat" cmpd="sng" w="9525">
            <a:solidFill>
              <a:srgbClr val="EEE8DD"/>
            </a:solidFill>
            <a:prstDash val="solid"/>
            <a:round/>
            <a:headEnd len="sm" w="sm" type="none"/>
            <a:tailEnd len="sm" w="sm" type="none"/>
          </a:ln>
        </p:spPr>
      </p:pic>
      <p:pic>
        <p:nvPicPr>
          <p:cNvPr descr="preencoded.png" id="101" name="Google Shape;101;p16"/>
          <p:cNvPicPr preferRelativeResize="0"/>
          <p:nvPr/>
        </p:nvPicPr>
        <p:blipFill rotWithShape="1">
          <a:blip r:embed="rId7">
            <a:alphaModFix/>
          </a:blip>
          <a:srcRect b="0" l="0" r="0" t="0"/>
          <a:stretch/>
        </p:blipFill>
        <p:spPr>
          <a:xfrm>
            <a:off x="3499051" y="2912862"/>
            <a:ext cx="292608" cy="292608"/>
          </a:xfrm>
          <a:prstGeom prst="rect">
            <a:avLst/>
          </a:prstGeom>
          <a:noFill/>
          <a:ln cap="flat" cmpd="sng" w="9525">
            <a:solidFill>
              <a:srgbClr val="EEE8DD"/>
            </a:solidFill>
            <a:prstDash val="solid"/>
            <a:round/>
            <a:headEnd len="sm" w="sm" type="none"/>
            <a:tailEnd len="sm" w="sm" type="none"/>
          </a:ln>
        </p:spPr>
      </p:pic>
      <p:pic>
        <p:nvPicPr>
          <p:cNvPr descr="preencoded.png" id="102" name="Google Shape;102;p16"/>
          <p:cNvPicPr preferRelativeResize="0"/>
          <p:nvPr/>
        </p:nvPicPr>
        <p:blipFill rotWithShape="1">
          <a:blip r:embed="rId8">
            <a:alphaModFix/>
          </a:blip>
          <a:srcRect b="0" l="0" r="0" t="0"/>
          <a:stretch/>
        </p:blipFill>
        <p:spPr>
          <a:xfrm>
            <a:off x="6310831" y="2912862"/>
            <a:ext cx="292608" cy="292608"/>
          </a:xfrm>
          <a:prstGeom prst="rect">
            <a:avLst/>
          </a:prstGeom>
          <a:noFill/>
          <a:ln cap="flat" cmpd="sng" w="9525">
            <a:solidFill>
              <a:srgbClr val="EEE8DD"/>
            </a:solidFill>
            <a:prstDash val="solid"/>
            <a:round/>
            <a:headEnd len="sm" w="sm" type="none"/>
            <a:tailEnd len="sm" w="sm" type="none"/>
          </a:ln>
        </p:spPr>
      </p:pic>
      <p:sp>
        <p:nvSpPr>
          <p:cNvPr id="103" name="Google Shape;103;p16"/>
          <p:cNvSpPr txBox="1"/>
          <p:nvPr/>
        </p:nvSpPr>
        <p:spPr>
          <a:xfrm>
            <a:off x="1322663" y="3189875"/>
            <a:ext cx="1419000" cy="30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800">
                <a:solidFill>
                  <a:srgbClr val="746558"/>
                </a:solidFill>
                <a:latin typeface="Gelasio"/>
                <a:ea typeface="Gelasio"/>
                <a:cs typeface="Gelasio"/>
                <a:sym typeface="Gelasio"/>
              </a:rPr>
              <a:t>Self reported 1-10</a:t>
            </a:r>
            <a:endParaRPr sz="1200"/>
          </a:p>
        </p:txBody>
      </p:sp>
      <p:sp>
        <p:nvSpPr>
          <p:cNvPr id="104" name="Google Shape;104;p16"/>
          <p:cNvSpPr txBox="1"/>
          <p:nvPr/>
        </p:nvSpPr>
        <p:spPr>
          <a:xfrm>
            <a:off x="4198063" y="3170075"/>
            <a:ext cx="1419000" cy="30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800">
                <a:solidFill>
                  <a:srgbClr val="746558"/>
                </a:solidFill>
                <a:latin typeface="Gelasio"/>
                <a:ea typeface="Gelasio"/>
                <a:cs typeface="Gelasio"/>
                <a:sym typeface="Gelasio"/>
              </a:rPr>
              <a:t>Body Mass Index</a:t>
            </a:r>
            <a:endParaRPr sz="1200"/>
          </a:p>
        </p:txBody>
      </p:sp>
      <p:sp>
        <p:nvSpPr>
          <p:cNvPr id="105" name="Google Shape;105;p16"/>
          <p:cNvSpPr txBox="1"/>
          <p:nvPr/>
        </p:nvSpPr>
        <p:spPr>
          <a:xfrm>
            <a:off x="6901475" y="3170075"/>
            <a:ext cx="1419000" cy="30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800">
                <a:solidFill>
                  <a:srgbClr val="746558"/>
                </a:solidFill>
                <a:latin typeface="Gelasio"/>
                <a:ea typeface="Gelasio"/>
                <a:cs typeface="Gelasio"/>
                <a:sym typeface="Gelasio"/>
              </a:rPr>
              <a:t>Systolic</a:t>
            </a:r>
            <a:r>
              <a:rPr lang="en" sz="800">
                <a:solidFill>
                  <a:srgbClr val="746558"/>
                </a:solidFill>
                <a:latin typeface="Gelasio"/>
                <a:ea typeface="Gelasio"/>
                <a:cs typeface="Gelasio"/>
                <a:sym typeface="Gelasio"/>
              </a:rPr>
              <a:t> / Diastolic</a:t>
            </a:r>
            <a:endParaRPr sz="1200"/>
          </a:p>
        </p:txBody>
      </p:sp>
      <p:pic>
        <p:nvPicPr>
          <p:cNvPr descr="preencoded.png" id="106" name="Google Shape;106;p16"/>
          <p:cNvPicPr preferRelativeResize="0"/>
          <p:nvPr/>
        </p:nvPicPr>
        <p:blipFill rotWithShape="1">
          <a:blip r:embed="rId9">
            <a:alphaModFix/>
          </a:blip>
          <a:srcRect b="0" l="0" r="0" t="0"/>
          <a:stretch/>
        </p:blipFill>
        <p:spPr>
          <a:xfrm>
            <a:off x="687271" y="4023296"/>
            <a:ext cx="292608" cy="292608"/>
          </a:xfrm>
          <a:prstGeom prst="rect">
            <a:avLst/>
          </a:prstGeom>
          <a:noFill/>
          <a:ln cap="flat" cmpd="sng" w="9525">
            <a:solidFill>
              <a:srgbClr val="EEE8DD"/>
            </a:solidFill>
            <a:prstDash val="solid"/>
            <a:round/>
            <a:headEnd len="sm" w="sm" type="none"/>
            <a:tailEnd len="sm" w="sm" type="none"/>
          </a:ln>
        </p:spPr>
      </p:pic>
      <p:pic>
        <p:nvPicPr>
          <p:cNvPr descr="preencoded.png" id="107" name="Google Shape;107;p16"/>
          <p:cNvPicPr preferRelativeResize="0"/>
          <p:nvPr/>
        </p:nvPicPr>
        <p:blipFill rotWithShape="1">
          <a:blip r:embed="rId10">
            <a:alphaModFix/>
          </a:blip>
          <a:srcRect b="0" l="0" r="0" t="0"/>
          <a:stretch/>
        </p:blipFill>
        <p:spPr>
          <a:xfrm>
            <a:off x="3499051" y="4030096"/>
            <a:ext cx="292608" cy="292608"/>
          </a:xfrm>
          <a:prstGeom prst="rect">
            <a:avLst/>
          </a:prstGeom>
          <a:noFill/>
          <a:ln cap="flat" cmpd="sng" w="9525">
            <a:solidFill>
              <a:srgbClr val="EEE8DD"/>
            </a:solidFill>
            <a:prstDash val="solid"/>
            <a:round/>
            <a:headEnd len="sm" w="sm" type="none"/>
            <a:tailEnd len="sm" w="sm" type="none"/>
          </a:ln>
        </p:spPr>
      </p:pic>
      <p:pic>
        <p:nvPicPr>
          <p:cNvPr descr="preencoded.png" id="108" name="Google Shape;108;p16"/>
          <p:cNvPicPr preferRelativeResize="0"/>
          <p:nvPr/>
        </p:nvPicPr>
        <p:blipFill rotWithShape="1">
          <a:blip r:embed="rId11">
            <a:alphaModFix/>
          </a:blip>
          <a:srcRect b="0" l="0" r="0" t="0"/>
          <a:stretch/>
        </p:blipFill>
        <p:spPr>
          <a:xfrm>
            <a:off x="6310831" y="4030096"/>
            <a:ext cx="292608" cy="292608"/>
          </a:xfrm>
          <a:prstGeom prst="rect">
            <a:avLst/>
          </a:prstGeom>
          <a:noFill/>
          <a:ln cap="flat" cmpd="sng" w="9525">
            <a:solidFill>
              <a:srgbClr val="EEE8DD"/>
            </a:solidFill>
            <a:prstDash val="solid"/>
            <a:round/>
            <a:headEnd len="sm" w="sm" type="none"/>
            <a:tailEnd len="sm" w="sm" type="none"/>
          </a:ln>
        </p:spPr>
      </p:pic>
      <p:sp>
        <p:nvSpPr>
          <p:cNvPr id="109" name="Google Shape;109;p16"/>
          <p:cNvSpPr txBox="1"/>
          <p:nvPr/>
        </p:nvSpPr>
        <p:spPr>
          <a:xfrm>
            <a:off x="1410275" y="4283900"/>
            <a:ext cx="1419000" cy="30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800">
                <a:solidFill>
                  <a:srgbClr val="746558"/>
                </a:solidFill>
                <a:latin typeface="Gelasio"/>
                <a:ea typeface="Gelasio"/>
                <a:cs typeface="Gelasio"/>
                <a:sym typeface="Gelasio"/>
              </a:rPr>
              <a:t>Beats per minute</a:t>
            </a:r>
            <a:endParaRPr sz="1200"/>
          </a:p>
        </p:txBody>
      </p:sp>
      <p:sp>
        <p:nvSpPr>
          <p:cNvPr id="110" name="Google Shape;110;p16"/>
          <p:cNvSpPr txBox="1"/>
          <p:nvPr/>
        </p:nvSpPr>
        <p:spPr>
          <a:xfrm>
            <a:off x="4134038" y="4310400"/>
            <a:ext cx="1419000" cy="30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800">
                <a:solidFill>
                  <a:srgbClr val="746558"/>
                </a:solidFill>
                <a:latin typeface="Gelasio"/>
                <a:ea typeface="Gelasio"/>
                <a:cs typeface="Gelasio"/>
                <a:sym typeface="Gelasio"/>
              </a:rPr>
              <a:t>Steps walked per day </a:t>
            </a:r>
            <a:endParaRPr sz="1200"/>
          </a:p>
        </p:txBody>
      </p:sp>
      <p:sp>
        <p:nvSpPr>
          <p:cNvPr id="111" name="Google Shape;111;p16"/>
          <p:cNvSpPr txBox="1"/>
          <p:nvPr/>
        </p:nvSpPr>
        <p:spPr>
          <a:xfrm>
            <a:off x="6946863" y="4310400"/>
            <a:ext cx="1419000" cy="30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800">
                <a:solidFill>
                  <a:srgbClr val="746558"/>
                </a:solidFill>
                <a:latin typeface="Gelasio"/>
                <a:ea typeface="Gelasio"/>
                <a:cs typeface="Gelasio"/>
                <a:sym typeface="Gelasio"/>
              </a:rPr>
              <a:t>None / Insomnia / Apnea</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0"/>
        </a:solidFill>
      </p:bgPr>
    </p:bg>
    <p:spTree>
      <p:nvGrpSpPr>
        <p:cNvPr id="115" name="Shape 115"/>
        <p:cNvGrpSpPr/>
        <p:nvPr/>
      </p:nvGrpSpPr>
      <p:grpSpPr>
        <a:xfrm>
          <a:off x="0" y="0"/>
          <a:ext cx="0" cy="0"/>
          <a:chOff x="0" y="0"/>
          <a:chExt cx="0" cy="0"/>
        </a:xfrm>
      </p:grpSpPr>
      <p:sp>
        <p:nvSpPr>
          <p:cNvPr id="116" name="Google Shape;116;p17"/>
          <p:cNvSpPr/>
          <p:nvPr/>
        </p:nvSpPr>
        <p:spPr>
          <a:xfrm>
            <a:off x="496125" y="1609875"/>
            <a:ext cx="4833600" cy="443100"/>
          </a:xfrm>
          <a:prstGeom prst="rect">
            <a:avLst/>
          </a:prstGeom>
          <a:noFill/>
          <a:ln>
            <a:noFill/>
          </a:ln>
        </p:spPr>
        <p:txBody>
          <a:bodyPr anchorCtr="0" anchor="t" bIns="0" lIns="0" spcFirstLastPara="1" rIns="0" wrap="square" tIns="0">
            <a:noAutofit/>
          </a:bodyPr>
          <a:lstStyle/>
          <a:p>
            <a:pPr indent="0" lvl="0" marL="0" marR="0" rtl="0" algn="l">
              <a:lnSpc>
                <a:spcPct val="125454"/>
              </a:lnSpc>
              <a:spcBef>
                <a:spcPts val="0"/>
              </a:spcBef>
              <a:spcAft>
                <a:spcPts val="0"/>
              </a:spcAft>
              <a:buClr>
                <a:srgbClr val="484237"/>
              </a:buClr>
              <a:buSzPts val="2750"/>
              <a:buFont typeface="Gelasio"/>
              <a:buNone/>
            </a:pPr>
            <a:r>
              <a:rPr lang="en" sz="2750">
                <a:solidFill>
                  <a:srgbClr val="484237"/>
                </a:solidFill>
                <a:latin typeface="Gelasio"/>
                <a:ea typeface="Gelasio"/>
                <a:cs typeface="Gelasio"/>
                <a:sym typeface="Gelasio"/>
              </a:rPr>
              <a:t>Data Cleaning &amp; Preprocessing</a:t>
            </a:r>
            <a:endParaRPr b="0" i="0" sz="2750" u="none" cap="none" strike="noStrike"/>
          </a:p>
        </p:txBody>
      </p:sp>
      <p:sp>
        <p:nvSpPr>
          <p:cNvPr id="117" name="Google Shape;117;p17"/>
          <p:cNvSpPr/>
          <p:nvPr/>
        </p:nvSpPr>
        <p:spPr>
          <a:xfrm>
            <a:off x="496119" y="2336378"/>
            <a:ext cx="283500" cy="1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46558"/>
              </a:buClr>
              <a:buSzPts val="1100"/>
              <a:buFont typeface="Gelasio"/>
              <a:buNone/>
            </a:pPr>
            <a:r>
              <a:rPr b="0" i="0" lang="en" sz="1100" u="none" cap="none" strike="noStrike">
                <a:solidFill>
                  <a:srgbClr val="746558"/>
                </a:solidFill>
                <a:latin typeface="Gelasio"/>
                <a:ea typeface="Gelasio"/>
                <a:cs typeface="Gelasio"/>
                <a:sym typeface="Gelasio"/>
              </a:rPr>
              <a:t>01</a:t>
            </a:r>
            <a:endParaRPr b="0" i="0" sz="1100" u="none" cap="none" strike="noStrike"/>
          </a:p>
        </p:txBody>
      </p:sp>
      <p:sp>
        <p:nvSpPr>
          <p:cNvPr id="118" name="Google Shape;118;p17"/>
          <p:cNvSpPr/>
          <p:nvPr/>
        </p:nvSpPr>
        <p:spPr>
          <a:xfrm>
            <a:off x="496119" y="2558281"/>
            <a:ext cx="4005000" cy="19200"/>
          </a:xfrm>
          <a:prstGeom prst="rect">
            <a:avLst/>
          </a:prstGeom>
          <a:solidFill>
            <a:srgbClr val="D3C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7"/>
          <p:cNvSpPr/>
          <p:nvPr/>
        </p:nvSpPr>
        <p:spPr>
          <a:xfrm>
            <a:off x="496119" y="2667223"/>
            <a:ext cx="1772100" cy="22140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746558"/>
              </a:buClr>
              <a:buSzPts val="1350"/>
              <a:buFont typeface="Gelasio"/>
              <a:buNone/>
            </a:pPr>
            <a:r>
              <a:rPr lang="en" sz="1350">
                <a:solidFill>
                  <a:srgbClr val="746558"/>
                </a:solidFill>
                <a:latin typeface="Gelasio"/>
                <a:ea typeface="Gelasio"/>
                <a:cs typeface="Gelasio"/>
                <a:sym typeface="Gelasio"/>
              </a:rPr>
              <a:t>Data Cleaning</a:t>
            </a:r>
            <a:endParaRPr b="0" i="0" sz="1350" u="none" cap="none" strike="noStrike"/>
          </a:p>
        </p:txBody>
      </p:sp>
      <p:sp>
        <p:nvSpPr>
          <p:cNvPr id="120" name="Google Shape;120;p17"/>
          <p:cNvSpPr/>
          <p:nvPr/>
        </p:nvSpPr>
        <p:spPr>
          <a:xfrm>
            <a:off x="496125" y="2973705"/>
            <a:ext cx="4005000" cy="1371900"/>
          </a:xfrm>
          <a:prstGeom prst="rect">
            <a:avLst/>
          </a:prstGeom>
          <a:noFill/>
          <a:ln>
            <a:noFill/>
          </a:ln>
        </p:spPr>
        <p:txBody>
          <a:bodyPr anchorCtr="0" anchor="t" bIns="0" lIns="0" spcFirstLastPara="1" rIns="0" wrap="square" tIns="0">
            <a:noAutofit/>
          </a:bodyPr>
          <a:lstStyle/>
          <a:p>
            <a:pPr indent="-298450" lvl="0" marL="457200" marR="0" rtl="0" algn="l">
              <a:lnSpc>
                <a:spcPct val="15909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Removed</a:t>
            </a:r>
            <a:r>
              <a:rPr lang="en" sz="1100">
                <a:solidFill>
                  <a:srgbClr val="746558"/>
                </a:solidFill>
                <a:latin typeface="Gelasio"/>
                <a:ea typeface="Gelasio"/>
                <a:cs typeface="Gelasio"/>
                <a:sym typeface="Gelasio"/>
              </a:rPr>
              <a:t> duplicate rows</a:t>
            </a:r>
            <a:endParaRPr sz="1100">
              <a:solidFill>
                <a:srgbClr val="746558"/>
              </a:solidFill>
              <a:latin typeface="Gelasio"/>
              <a:ea typeface="Gelasio"/>
              <a:cs typeface="Gelasio"/>
              <a:sym typeface="Gelasio"/>
            </a:endParaRPr>
          </a:p>
          <a:p>
            <a:pPr indent="-298450" lvl="0" marL="457200" marR="0" rtl="0" algn="l">
              <a:lnSpc>
                <a:spcPct val="15909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Replacing inconsistent BMI labels</a:t>
            </a:r>
            <a:endParaRPr sz="1100">
              <a:solidFill>
                <a:srgbClr val="746558"/>
              </a:solidFill>
              <a:latin typeface="Gelasio"/>
              <a:ea typeface="Gelasio"/>
              <a:cs typeface="Gelasio"/>
              <a:sym typeface="Gelasio"/>
            </a:endParaRPr>
          </a:p>
          <a:p>
            <a:pPr indent="-298450" lvl="0" marL="457200" marR="0" rtl="0" algn="l">
              <a:lnSpc>
                <a:spcPct val="15909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Filled missing values for sleep disorder</a:t>
            </a:r>
            <a:endParaRPr sz="1100">
              <a:solidFill>
                <a:srgbClr val="746558"/>
              </a:solidFill>
              <a:latin typeface="Gelasio"/>
              <a:ea typeface="Gelasio"/>
              <a:cs typeface="Gelasio"/>
              <a:sym typeface="Gelasio"/>
            </a:endParaRPr>
          </a:p>
          <a:p>
            <a:pPr indent="-298450" lvl="0" marL="457200" marR="0" rtl="0" algn="l">
              <a:lnSpc>
                <a:spcPct val="15909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Split blood pressure into systolic and diastolic values</a:t>
            </a:r>
            <a:endParaRPr sz="1100">
              <a:solidFill>
                <a:srgbClr val="746558"/>
              </a:solidFill>
              <a:latin typeface="Gelasio"/>
              <a:ea typeface="Gelasio"/>
              <a:cs typeface="Gelasio"/>
              <a:sym typeface="Gelasio"/>
            </a:endParaRPr>
          </a:p>
        </p:txBody>
      </p:sp>
      <p:sp>
        <p:nvSpPr>
          <p:cNvPr id="121" name="Google Shape;121;p17"/>
          <p:cNvSpPr/>
          <p:nvPr/>
        </p:nvSpPr>
        <p:spPr>
          <a:xfrm>
            <a:off x="4642842" y="2336378"/>
            <a:ext cx="283500" cy="1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46558"/>
              </a:buClr>
              <a:buSzPts val="1100"/>
              <a:buFont typeface="Gelasio"/>
              <a:buNone/>
            </a:pPr>
            <a:r>
              <a:rPr b="0" i="0" lang="en" sz="1100" u="none" cap="none" strike="noStrike">
                <a:solidFill>
                  <a:srgbClr val="746558"/>
                </a:solidFill>
                <a:latin typeface="Gelasio"/>
                <a:ea typeface="Gelasio"/>
                <a:cs typeface="Gelasio"/>
                <a:sym typeface="Gelasio"/>
              </a:rPr>
              <a:t>02</a:t>
            </a:r>
            <a:endParaRPr b="0" i="0" sz="1100" u="none" cap="none" strike="noStrike"/>
          </a:p>
        </p:txBody>
      </p:sp>
      <p:sp>
        <p:nvSpPr>
          <p:cNvPr id="122" name="Google Shape;122;p17"/>
          <p:cNvSpPr/>
          <p:nvPr/>
        </p:nvSpPr>
        <p:spPr>
          <a:xfrm>
            <a:off x="4642842" y="2558281"/>
            <a:ext cx="4005000" cy="19200"/>
          </a:xfrm>
          <a:prstGeom prst="rect">
            <a:avLst/>
          </a:prstGeom>
          <a:solidFill>
            <a:srgbClr val="D3C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p:nvPr/>
        </p:nvSpPr>
        <p:spPr>
          <a:xfrm>
            <a:off x="4642842" y="2667223"/>
            <a:ext cx="1772100" cy="22140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746558"/>
              </a:buClr>
              <a:buSzPts val="1350"/>
              <a:buFont typeface="Gelasio"/>
              <a:buNone/>
            </a:pPr>
            <a:r>
              <a:rPr lang="en" sz="1350">
                <a:solidFill>
                  <a:srgbClr val="746558"/>
                </a:solidFill>
                <a:latin typeface="Gelasio"/>
                <a:ea typeface="Gelasio"/>
                <a:cs typeface="Gelasio"/>
                <a:sym typeface="Gelasio"/>
              </a:rPr>
              <a:t>Preprocessing</a:t>
            </a:r>
            <a:endParaRPr b="0" i="0" sz="1350" u="none" cap="none" strike="noStrike"/>
          </a:p>
        </p:txBody>
      </p:sp>
      <p:sp>
        <p:nvSpPr>
          <p:cNvPr id="124" name="Google Shape;124;p17"/>
          <p:cNvSpPr/>
          <p:nvPr/>
        </p:nvSpPr>
        <p:spPr>
          <a:xfrm>
            <a:off x="4642850" y="2973686"/>
            <a:ext cx="4005000" cy="1107000"/>
          </a:xfrm>
          <a:prstGeom prst="rect">
            <a:avLst/>
          </a:prstGeom>
          <a:noFill/>
          <a:ln>
            <a:noFill/>
          </a:ln>
        </p:spPr>
        <p:txBody>
          <a:bodyPr anchorCtr="0" anchor="t" bIns="0" lIns="0" spcFirstLastPara="1" rIns="0" wrap="square" tIns="0">
            <a:noAutofit/>
          </a:bodyPr>
          <a:lstStyle/>
          <a:p>
            <a:pPr indent="-298450" lvl="0" marL="457200" marR="0" rtl="0" algn="l">
              <a:lnSpc>
                <a:spcPct val="15909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Encoded gender as numerical values (0 and 1)</a:t>
            </a:r>
            <a:endParaRPr sz="1100">
              <a:solidFill>
                <a:srgbClr val="746558"/>
              </a:solidFill>
              <a:latin typeface="Gelasio"/>
              <a:ea typeface="Gelasio"/>
              <a:cs typeface="Gelasio"/>
              <a:sym typeface="Gelasio"/>
            </a:endParaRPr>
          </a:p>
          <a:p>
            <a:pPr indent="-298450" lvl="0" marL="457200" marR="0" rtl="0" algn="l">
              <a:lnSpc>
                <a:spcPct val="15909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One-hot encoded BMI categories</a:t>
            </a:r>
            <a:endParaRPr sz="1100">
              <a:solidFill>
                <a:srgbClr val="746558"/>
              </a:solidFill>
              <a:latin typeface="Gelasio"/>
              <a:ea typeface="Gelasio"/>
              <a:cs typeface="Gelasio"/>
              <a:sym typeface="Gelasio"/>
            </a:endParaRPr>
          </a:p>
          <a:p>
            <a:pPr indent="-298450" lvl="0" marL="457200" marR="0" rtl="0" algn="l">
              <a:lnSpc>
                <a:spcPct val="15909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One-hot encoded sleep disorder categories</a:t>
            </a:r>
            <a:endParaRPr sz="1100">
              <a:solidFill>
                <a:srgbClr val="746558"/>
              </a:solidFill>
              <a:latin typeface="Gelasio"/>
              <a:ea typeface="Gelasio"/>
              <a:cs typeface="Gelasio"/>
              <a:sym typeface="Gelasio"/>
            </a:endParaRPr>
          </a:p>
          <a:p>
            <a:pPr indent="-298450" lvl="0" marL="457200" marR="0" rtl="0" algn="l">
              <a:lnSpc>
                <a:spcPct val="15909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Standardized numerical variables</a:t>
            </a:r>
            <a:endParaRPr sz="1100">
              <a:solidFill>
                <a:srgbClr val="746558"/>
              </a:solidFill>
              <a:latin typeface="Gelasio"/>
              <a:ea typeface="Gelasio"/>
              <a:cs typeface="Gelasio"/>
              <a:sym typeface="Gelasio"/>
            </a:endParaRPr>
          </a:p>
          <a:p>
            <a:pPr indent="-298450" lvl="0" marL="457200" marR="0" rtl="0" algn="l">
              <a:lnSpc>
                <a:spcPct val="15909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Performed train / test split</a:t>
            </a:r>
            <a:endParaRPr sz="1100">
              <a:solidFill>
                <a:srgbClr val="746558"/>
              </a:solidFill>
              <a:latin typeface="Gelasio"/>
              <a:ea typeface="Gelasio"/>
              <a:cs typeface="Gelasio"/>
              <a:sym typeface="Gelasi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0"/>
        </a:solidFill>
      </p:bgPr>
    </p:bg>
    <p:spTree>
      <p:nvGrpSpPr>
        <p:cNvPr id="128" name="Shape 128"/>
        <p:cNvGrpSpPr/>
        <p:nvPr/>
      </p:nvGrpSpPr>
      <p:grpSpPr>
        <a:xfrm>
          <a:off x="0" y="0"/>
          <a:ext cx="0" cy="0"/>
          <a:chOff x="0" y="0"/>
          <a:chExt cx="0" cy="0"/>
        </a:xfrm>
      </p:grpSpPr>
      <p:sp>
        <p:nvSpPr>
          <p:cNvPr id="129" name="Google Shape;129;p18"/>
          <p:cNvSpPr/>
          <p:nvPr/>
        </p:nvSpPr>
        <p:spPr>
          <a:xfrm>
            <a:off x="493776" y="457200"/>
            <a:ext cx="5212500" cy="443100"/>
          </a:xfrm>
          <a:prstGeom prst="rect">
            <a:avLst/>
          </a:prstGeom>
          <a:noFill/>
          <a:ln>
            <a:noFill/>
          </a:ln>
        </p:spPr>
        <p:txBody>
          <a:bodyPr anchorCtr="0" anchor="t" bIns="0" lIns="0" spcFirstLastPara="1" rIns="0" wrap="square" tIns="0">
            <a:noAutofit/>
          </a:bodyPr>
          <a:lstStyle/>
          <a:p>
            <a:pPr indent="0" lvl="0" marL="0" rtl="0" algn="l">
              <a:lnSpc>
                <a:spcPct val="125454"/>
              </a:lnSpc>
              <a:spcBef>
                <a:spcPts val="0"/>
              </a:spcBef>
              <a:spcAft>
                <a:spcPts val="0"/>
              </a:spcAft>
              <a:buClr>
                <a:srgbClr val="484237"/>
              </a:buClr>
              <a:buSzPts val="2750"/>
              <a:buFont typeface="Gelasio"/>
              <a:buNone/>
            </a:pPr>
            <a:r>
              <a:rPr lang="en" sz="2750">
                <a:solidFill>
                  <a:srgbClr val="746558"/>
                </a:solidFill>
                <a:latin typeface="Gelasio"/>
                <a:ea typeface="Gelasio"/>
                <a:cs typeface="Gelasio"/>
                <a:sym typeface="Gelasio"/>
              </a:rPr>
              <a:t>Multivariable Linear Regression</a:t>
            </a:r>
            <a:endParaRPr sz="2750">
              <a:solidFill>
                <a:srgbClr val="746558"/>
              </a:solidFill>
            </a:endParaRPr>
          </a:p>
          <a:p>
            <a:pPr indent="0" lvl="0" marL="0" marR="0" rtl="0" algn="l">
              <a:lnSpc>
                <a:spcPct val="125454"/>
              </a:lnSpc>
              <a:spcBef>
                <a:spcPts val="0"/>
              </a:spcBef>
              <a:spcAft>
                <a:spcPts val="0"/>
              </a:spcAft>
              <a:buClr>
                <a:srgbClr val="484237"/>
              </a:buClr>
              <a:buSzPts val="2750"/>
              <a:buFont typeface="Gelasio"/>
              <a:buNone/>
            </a:pPr>
            <a:r>
              <a:t/>
            </a:r>
            <a:endParaRPr sz="2750">
              <a:solidFill>
                <a:srgbClr val="746558"/>
              </a:solidFill>
              <a:latin typeface="Gelasio"/>
              <a:ea typeface="Gelasio"/>
              <a:cs typeface="Gelasio"/>
              <a:sym typeface="Gelasio"/>
            </a:endParaRPr>
          </a:p>
        </p:txBody>
      </p:sp>
      <p:sp>
        <p:nvSpPr>
          <p:cNvPr id="130" name="Google Shape;130;p18"/>
          <p:cNvSpPr/>
          <p:nvPr/>
        </p:nvSpPr>
        <p:spPr>
          <a:xfrm>
            <a:off x="4919472" y="1051560"/>
            <a:ext cx="3291900" cy="777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 sz="1100">
                <a:solidFill>
                  <a:srgbClr val="746558"/>
                </a:solidFill>
                <a:latin typeface="Gelasio"/>
                <a:ea typeface="Gelasio"/>
                <a:cs typeface="Gelasio"/>
                <a:sym typeface="Gelasio"/>
              </a:rPr>
              <a:t>Top Coefficient</a:t>
            </a:r>
            <a:endParaRPr b="1" sz="1100">
              <a:solidFill>
                <a:srgbClr val="746558"/>
              </a:solidFill>
              <a:latin typeface="Gelasio"/>
              <a:ea typeface="Gelasio"/>
              <a:cs typeface="Gelasio"/>
              <a:sym typeface="Gelasio"/>
            </a:endParaRPr>
          </a:p>
          <a:p>
            <a:pPr indent="-298450" lvl="0" marL="457200" rtl="0" algn="l">
              <a:lnSpc>
                <a:spcPct val="115000"/>
              </a:lnSpc>
              <a:spcBef>
                <a:spcPts val="120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BMI Overweight: -0.608</a:t>
            </a:r>
            <a:endParaRPr sz="1100">
              <a:solidFill>
                <a:srgbClr val="746558"/>
              </a:solidFill>
              <a:latin typeface="Gelasio"/>
              <a:ea typeface="Gelasio"/>
              <a:cs typeface="Gelasio"/>
              <a:sym typeface="Gelasio"/>
            </a:endParaRPr>
          </a:p>
          <a:p>
            <a:pPr indent="-298450" lvl="0" marL="457200" rtl="0" algn="l">
              <a:lnSpc>
                <a:spcPct val="11500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Stress Level: -0.384</a:t>
            </a:r>
            <a:endParaRPr sz="1100">
              <a:solidFill>
                <a:srgbClr val="746558"/>
              </a:solidFill>
              <a:latin typeface="Gelasio"/>
              <a:ea typeface="Gelasio"/>
              <a:cs typeface="Gelasio"/>
              <a:sym typeface="Gelasio"/>
            </a:endParaRPr>
          </a:p>
          <a:p>
            <a:pPr indent="-298450" lvl="0" marL="457200" rtl="0" algn="l">
              <a:lnSpc>
                <a:spcPct val="11500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Physical </a:t>
            </a:r>
            <a:r>
              <a:rPr lang="en" sz="1100">
                <a:solidFill>
                  <a:srgbClr val="746558"/>
                </a:solidFill>
                <a:latin typeface="Gelasio"/>
                <a:ea typeface="Gelasio"/>
                <a:cs typeface="Gelasio"/>
                <a:sym typeface="Gelasio"/>
              </a:rPr>
              <a:t>Activity</a:t>
            </a:r>
            <a:r>
              <a:rPr lang="en" sz="1100">
                <a:solidFill>
                  <a:srgbClr val="746558"/>
                </a:solidFill>
                <a:latin typeface="Gelasio"/>
                <a:ea typeface="Gelasio"/>
                <a:cs typeface="Gelasio"/>
                <a:sym typeface="Gelasio"/>
              </a:rPr>
              <a:t>:  0.265</a:t>
            </a:r>
            <a:endParaRPr sz="1100">
              <a:solidFill>
                <a:srgbClr val="746558"/>
              </a:solidFill>
              <a:latin typeface="Gelasio"/>
              <a:ea typeface="Gelasio"/>
              <a:cs typeface="Gelasio"/>
              <a:sym typeface="Gelasio"/>
            </a:endParaRPr>
          </a:p>
        </p:txBody>
      </p:sp>
      <p:pic>
        <p:nvPicPr>
          <p:cNvPr id="131" name="Google Shape;131;p18"/>
          <p:cNvPicPr preferRelativeResize="0"/>
          <p:nvPr/>
        </p:nvPicPr>
        <p:blipFill>
          <a:blip r:embed="rId3">
            <a:alphaModFix/>
          </a:blip>
          <a:stretch>
            <a:fillRect/>
          </a:stretch>
        </p:blipFill>
        <p:spPr>
          <a:xfrm>
            <a:off x="950976" y="2332337"/>
            <a:ext cx="3129280" cy="2514600"/>
          </a:xfrm>
          <a:prstGeom prst="rect">
            <a:avLst/>
          </a:prstGeom>
          <a:noFill/>
          <a:ln cap="flat" cmpd="sng" w="28575">
            <a:solidFill>
              <a:schemeClr val="dk2"/>
            </a:solidFill>
            <a:prstDash val="solid"/>
            <a:round/>
            <a:headEnd len="sm" w="sm" type="none"/>
            <a:tailEnd len="sm" w="sm" type="none"/>
          </a:ln>
        </p:spPr>
      </p:pic>
      <p:pic>
        <p:nvPicPr>
          <p:cNvPr id="132" name="Google Shape;132;p18"/>
          <p:cNvPicPr preferRelativeResize="0"/>
          <p:nvPr/>
        </p:nvPicPr>
        <p:blipFill>
          <a:blip r:embed="rId4">
            <a:alphaModFix/>
          </a:blip>
          <a:stretch>
            <a:fillRect/>
          </a:stretch>
        </p:blipFill>
        <p:spPr>
          <a:xfrm>
            <a:off x="5001768" y="2332337"/>
            <a:ext cx="3194473" cy="2514600"/>
          </a:xfrm>
          <a:prstGeom prst="rect">
            <a:avLst/>
          </a:prstGeom>
          <a:noFill/>
          <a:ln cap="flat" cmpd="sng" w="28575">
            <a:solidFill>
              <a:schemeClr val="dk2"/>
            </a:solidFill>
            <a:prstDash val="solid"/>
            <a:round/>
            <a:headEnd len="sm" w="sm" type="none"/>
            <a:tailEnd len="sm" w="sm" type="none"/>
          </a:ln>
        </p:spPr>
      </p:pic>
      <p:sp>
        <p:nvSpPr>
          <p:cNvPr id="133" name="Google Shape;133;p18"/>
          <p:cNvSpPr/>
          <p:nvPr/>
        </p:nvSpPr>
        <p:spPr>
          <a:xfrm>
            <a:off x="868680" y="1051560"/>
            <a:ext cx="3291900" cy="777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 sz="1100">
                <a:solidFill>
                  <a:srgbClr val="746558"/>
                </a:solidFill>
                <a:latin typeface="Gelasio"/>
                <a:ea typeface="Gelasio"/>
                <a:cs typeface="Gelasio"/>
                <a:sym typeface="Gelasio"/>
              </a:rPr>
              <a:t>Model Performance</a:t>
            </a:r>
            <a:endParaRPr b="1" sz="1100">
              <a:solidFill>
                <a:srgbClr val="746558"/>
              </a:solidFill>
              <a:latin typeface="Gelasio"/>
              <a:ea typeface="Gelasio"/>
              <a:cs typeface="Gelasio"/>
              <a:sym typeface="Gelasio"/>
            </a:endParaRPr>
          </a:p>
          <a:p>
            <a:pPr indent="-298450" lvl="0" marL="457200" rtl="0" algn="l">
              <a:lnSpc>
                <a:spcPct val="115000"/>
              </a:lnSpc>
              <a:spcBef>
                <a:spcPts val="120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R² = 0.806</a:t>
            </a:r>
            <a:endParaRPr sz="1100">
              <a:solidFill>
                <a:srgbClr val="746558"/>
              </a:solidFill>
              <a:latin typeface="Gelasio"/>
              <a:ea typeface="Gelasio"/>
              <a:cs typeface="Gelasio"/>
              <a:sym typeface="Gelasio"/>
            </a:endParaRPr>
          </a:p>
          <a:p>
            <a:pPr indent="-298450" lvl="0" marL="457200" rtl="0" algn="l">
              <a:lnSpc>
                <a:spcPct val="11500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RMSE = 0.322</a:t>
            </a:r>
            <a:endParaRPr sz="1100">
              <a:solidFill>
                <a:srgbClr val="746558"/>
              </a:solidFill>
              <a:latin typeface="Gelasio"/>
              <a:ea typeface="Gelasio"/>
              <a:cs typeface="Gelasio"/>
              <a:sym typeface="Gelasi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0"/>
        </a:solidFill>
      </p:bgPr>
    </p:bg>
    <p:spTree>
      <p:nvGrpSpPr>
        <p:cNvPr id="137" name="Shape 137"/>
        <p:cNvGrpSpPr/>
        <p:nvPr/>
      </p:nvGrpSpPr>
      <p:grpSpPr>
        <a:xfrm>
          <a:off x="0" y="0"/>
          <a:ext cx="0" cy="0"/>
          <a:chOff x="0" y="0"/>
          <a:chExt cx="0" cy="0"/>
        </a:xfrm>
      </p:grpSpPr>
      <p:sp>
        <p:nvSpPr>
          <p:cNvPr id="138" name="Google Shape;138;p19"/>
          <p:cNvSpPr/>
          <p:nvPr/>
        </p:nvSpPr>
        <p:spPr>
          <a:xfrm>
            <a:off x="508926" y="1099725"/>
            <a:ext cx="3959100" cy="443100"/>
          </a:xfrm>
          <a:prstGeom prst="rect">
            <a:avLst/>
          </a:prstGeom>
          <a:noFill/>
          <a:ln>
            <a:noFill/>
          </a:ln>
        </p:spPr>
        <p:txBody>
          <a:bodyPr anchorCtr="0" anchor="t" bIns="0" lIns="0" spcFirstLastPara="1" rIns="0" wrap="square" tIns="0">
            <a:noAutofit/>
          </a:bodyPr>
          <a:lstStyle/>
          <a:p>
            <a:pPr indent="0" lvl="0" marL="0" marR="0" rtl="0" algn="l">
              <a:lnSpc>
                <a:spcPct val="125454"/>
              </a:lnSpc>
              <a:spcBef>
                <a:spcPts val="0"/>
              </a:spcBef>
              <a:spcAft>
                <a:spcPts val="0"/>
              </a:spcAft>
              <a:buClr>
                <a:srgbClr val="484237"/>
              </a:buClr>
              <a:buSzPts val="2750"/>
              <a:buFont typeface="Gelasio"/>
              <a:buNone/>
            </a:pPr>
            <a:r>
              <a:rPr lang="en" sz="2750">
                <a:solidFill>
                  <a:srgbClr val="484237"/>
                </a:solidFill>
                <a:latin typeface="Gelasio"/>
                <a:ea typeface="Gelasio"/>
                <a:cs typeface="Gelasio"/>
                <a:sym typeface="Gelasio"/>
              </a:rPr>
              <a:t>What is Random Forest?</a:t>
            </a:r>
            <a:endParaRPr b="0" i="0" sz="2750" u="none" cap="none" strike="noStrike"/>
          </a:p>
        </p:txBody>
      </p:sp>
      <p:sp>
        <p:nvSpPr>
          <p:cNvPr id="139" name="Google Shape;139;p19"/>
          <p:cNvSpPr/>
          <p:nvPr/>
        </p:nvSpPr>
        <p:spPr>
          <a:xfrm>
            <a:off x="508922" y="1826301"/>
            <a:ext cx="4714800" cy="2692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 sz="1100">
                <a:solidFill>
                  <a:srgbClr val="746558"/>
                </a:solidFill>
                <a:latin typeface="Gelasio"/>
                <a:ea typeface="Gelasio"/>
                <a:cs typeface="Gelasio"/>
                <a:sym typeface="Gelasio"/>
              </a:rPr>
              <a:t>What is it?</a:t>
            </a:r>
            <a:endParaRPr b="1" sz="1100">
              <a:solidFill>
                <a:srgbClr val="746558"/>
              </a:solidFill>
              <a:latin typeface="Gelasio"/>
              <a:ea typeface="Gelasio"/>
              <a:cs typeface="Gelasio"/>
              <a:sym typeface="Gelasio"/>
            </a:endParaRPr>
          </a:p>
          <a:p>
            <a:pPr indent="-298450" lvl="0" marL="457200" rtl="0" algn="l">
              <a:lnSpc>
                <a:spcPct val="115000"/>
              </a:lnSpc>
              <a:spcBef>
                <a:spcPts val="120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A machine learning model made up of many decision trees</a:t>
            </a:r>
            <a:endParaRPr sz="1100">
              <a:solidFill>
                <a:srgbClr val="746558"/>
              </a:solidFill>
              <a:latin typeface="Gelasio"/>
              <a:ea typeface="Gelasio"/>
              <a:cs typeface="Gelasio"/>
              <a:sym typeface="Gelasio"/>
            </a:endParaRPr>
          </a:p>
          <a:p>
            <a:pPr indent="0" lvl="0" marL="0" rtl="0" algn="l">
              <a:lnSpc>
                <a:spcPct val="115000"/>
              </a:lnSpc>
              <a:spcBef>
                <a:spcPts val="1200"/>
              </a:spcBef>
              <a:spcAft>
                <a:spcPts val="0"/>
              </a:spcAft>
              <a:buNone/>
            </a:pPr>
            <a:r>
              <a:rPr b="1" lang="en" sz="1100">
                <a:solidFill>
                  <a:srgbClr val="746558"/>
                </a:solidFill>
                <a:latin typeface="Gelasio"/>
                <a:ea typeface="Gelasio"/>
                <a:cs typeface="Gelasio"/>
                <a:sym typeface="Gelasio"/>
              </a:rPr>
              <a:t>How does it work?</a:t>
            </a:r>
            <a:endParaRPr b="1" sz="1100">
              <a:solidFill>
                <a:srgbClr val="746558"/>
              </a:solidFill>
              <a:latin typeface="Gelasio"/>
              <a:ea typeface="Gelasio"/>
              <a:cs typeface="Gelasio"/>
              <a:sym typeface="Gelasio"/>
            </a:endParaRPr>
          </a:p>
          <a:p>
            <a:pPr indent="-298450" lvl="0" marL="457200" rtl="0" algn="l">
              <a:lnSpc>
                <a:spcPct val="115000"/>
              </a:lnSpc>
              <a:spcBef>
                <a:spcPts val="120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Each tree learns patterns from the data</a:t>
            </a:r>
            <a:endParaRPr sz="1100">
              <a:solidFill>
                <a:srgbClr val="746558"/>
              </a:solidFill>
              <a:latin typeface="Gelasio"/>
              <a:ea typeface="Gelasio"/>
              <a:cs typeface="Gelasio"/>
              <a:sym typeface="Gelasio"/>
            </a:endParaRPr>
          </a:p>
          <a:p>
            <a:pPr indent="-298450" lvl="0" marL="457200" rtl="0" algn="l">
              <a:lnSpc>
                <a:spcPct val="11500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Each tree makes a prediction</a:t>
            </a:r>
            <a:endParaRPr sz="1100">
              <a:solidFill>
                <a:srgbClr val="746558"/>
              </a:solidFill>
              <a:latin typeface="Gelasio"/>
              <a:ea typeface="Gelasio"/>
              <a:cs typeface="Gelasio"/>
              <a:sym typeface="Gelasio"/>
            </a:endParaRPr>
          </a:p>
          <a:p>
            <a:pPr indent="-298450" lvl="0" marL="457200" rtl="0" algn="l">
              <a:lnSpc>
                <a:spcPct val="11500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The final prediction is the average of all trees</a:t>
            </a:r>
            <a:endParaRPr sz="1100">
              <a:solidFill>
                <a:srgbClr val="746558"/>
              </a:solidFill>
              <a:latin typeface="Gelasio"/>
              <a:ea typeface="Gelasio"/>
              <a:cs typeface="Gelasio"/>
              <a:sym typeface="Gelasio"/>
            </a:endParaRPr>
          </a:p>
          <a:p>
            <a:pPr indent="0" lvl="0" marL="0" rtl="0" algn="l">
              <a:lnSpc>
                <a:spcPct val="115000"/>
              </a:lnSpc>
              <a:spcBef>
                <a:spcPts val="1200"/>
              </a:spcBef>
              <a:spcAft>
                <a:spcPts val="0"/>
              </a:spcAft>
              <a:buNone/>
            </a:pPr>
            <a:r>
              <a:rPr b="1" lang="en" sz="1100">
                <a:solidFill>
                  <a:srgbClr val="746558"/>
                </a:solidFill>
                <a:latin typeface="Gelasio"/>
                <a:ea typeface="Gelasio"/>
                <a:cs typeface="Gelasio"/>
                <a:sym typeface="Gelasio"/>
              </a:rPr>
              <a:t>Why use it?</a:t>
            </a:r>
            <a:endParaRPr b="1" sz="1100">
              <a:solidFill>
                <a:srgbClr val="746558"/>
              </a:solidFill>
              <a:latin typeface="Gelasio"/>
              <a:ea typeface="Gelasio"/>
              <a:cs typeface="Gelasio"/>
              <a:sym typeface="Gelasio"/>
            </a:endParaRPr>
          </a:p>
          <a:p>
            <a:pPr indent="-298450" lvl="0" marL="457200" rtl="0" algn="l">
              <a:lnSpc>
                <a:spcPct val="115000"/>
              </a:lnSpc>
              <a:spcBef>
                <a:spcPts val="120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More accurate than simple models</a:t>
            </a:r>
            <a:endParaRPr sz="1100">
              <a:solidFill>
                <a:srgbClr val="746558"/>
              </a:solidFill>
              <a:latin typeface="Gelasio"/>
              <a:ea typeface="Gelasio"/>
              <a:cs typeface="Gelasio"/>
              <a:sym typeface="Gelasio"/>
            </a:endParaRPr>
          </a:p>
          <a:p>
            <a:pPr indent="-298450" lvl="0" marL="457200" rtl="0" algn="l">
              <a:lnSpc>
                <a:spcPct val="11500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Captures complex relationships between variables</a:t>
            </a:r>
            <a:endParaRPr sz="1100">
              <a:solidFill>
                <a:srgbClr val="746558"/>
              </a:solidFill>
              <a:latin typeface="Gelasio"/>
              <a:ea typeface="Gelasio"/>
              <a:cs typeface="Gelasio"/>
              <a:sym typeface="Gelasio"/>
            </a:endParaRPr>
          </a:p>
          <a:p>
            <a:pPr indent="-298450" lvl="0" marL="457200" marR="0" rtl="0" algn="l">
              <a:lnSpc>
                <a:spcPct val="159090"/>
              </a:lnSpc>
              <a:spcBef>
                <a:spcPts val="0"/>
              </a:spcBef>
              <a:spcAft>
                <a:spcPts val="0"/>
              </a:spcAft>
              <a:buClr>
                <a:srgbClr val="746558"/>
              </a:buClr>
              <a:buSzPts val="1100"/>
              <a:buFont typeface="Gelasio"/>
              <a:buChar char="-"/>
            </a:pPr>
            <a:r>
              <a:t/>
            </a:r>
            <a:endParaRPr sz="1100">
              <a:solidFill>
                <a:srgbClr val="746558"/>
              </a:solidFill>
              <a:latin typeface="Gelasio"/>
              <a:ea typeface="Gelasio"/>
              <a:cs typeface="Gelasio"/>
              <a:sym typeface="Gelasio"/>
            </a:endParaRPr>
          </a:p>
        </p:txBody>
      </p:sp>
      <p:pic>
        <p:nvPicPr>
          <p:cNvPr id="140" name="Google Shape;140;p19"/>
          <p:cNvPicPr preferRelativeResize="0"/>
          <p:nvPr/>
        </p:nvPicPr>
        <p:blipFill>
          <a:blip r:embed="rId3">
            <a:alphaModFix/>
          </a:blip>
          <a:stretch>
            <a:fillRect/>
          </a:stretch>
        </p:blipFill>
        <p:spPr>
          <a:xfrm>
            <a:off x="5569625" y="1363218"/>
            <a:ext cx="3383547" cy="241705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0"/>
        </a:solidFill>
      </p:bgPr>
    </p:bg>
    <p:spTree>
      <p:nvGrpSpPr>
        <p:cNvPr id="144" name="Shape 144"/>
        <p:cNvGrpSpPr/>
        <p:nvPr/>
      </p:nvGrpSpPr>
      <p:grpSpPr>
        <a:xfrm>
          <a:off x="0" y="0"/>
          <a:ext cx="0" cy="0"/>
          <a:chOff x="0" y="0"/>
          <a:chExt cx="0" cy="0"/>
        </a:xfrm>
      </p:grpSpPr>
      <p:sp>
        <p:nvSpPr>
          <p:cNvPr id="145" name="Google Shape;145;p20"/>
          <p:cNvSpPr/>
          <p:nvPr/>
        </p:nvSpPr>
        <p:spPr>
          <a:xfrm>
            <a:off x="493776" y="457200"/>
            <a:ext cx="5212500" cy="443100"/>
          </a:xfrm>
          <a:prstGeom prst="rect">
            <a:avLst/>
          </a:prstGeom>
          <a:noFill/>
          <a:ln>
            <a:noFill/>
          </a:ln>
        </p:spPr>
        <p:txBody>
          <a:bodyPr anchorCtr="0" anchor="t" bIns="0" lIns="0" spcFirstLastPara="1" rIns="0" wrap="square" tIns="0">
            <a:noAutofit/>
          </a:bodyPr>
          <a:lstStyle/>
          <a:p>
            <a:pPr indent="0" lvl="0" marL="0" rtl="0" algn="l">
              <a:lnSpc>
                <a:spcPct val="125454"/>
              </a:lnSpc>
              <a:spcBef>
                <a:spcPts val="0"/>
              </a:spcBef>
              <a:spcAft>
                <a:spcPts val="0"/>
              </a:spcAft>
              <a:buClr>
                <a:srgbClr val="484237"/>
              </a:buClr>
              <a:buSzPts val="2750"/>
              <a:buFont typeface="Gelasio"/>
              <a:buNone/>
            </a:pPr>
            <a:r>
              <a:rPr lang="en" sz="2750">
                <a:solidFill>
                  <a:srgbClr val="484237"/>
                </a:solidFill>
                <a:latin typeface="Gelasio"/>
                <a:ea typeface="Gelasio"/>
                <a:cs typeface="Gelasio"/>
                <a:sym typeface="Gelasio"/>
              </a:rPr>
              <a:t>Random Forest Model</a:t>
            </a:r>
            <a:endParaRPr sz="2750">
              <a:solidFill>
                <a:schemeClr val="dk1"/>
              </a:solidFill>
            </a:endParaRPr>
          </a:p>
          <a:p>
            <a:pPr indent="0" lvl="0" marL="0" marR="0" rtl="0" algn="l">
              <a:lnSpc>
                <a:spcPct val="125454"/>
              </a:lnSpc>
              <a:spcBef>
                <a:spcPts val="0"/>
              </a:spcBef>
              <a:spcAft>
                <a:spcPts val="0"/>
              </a:spcAft>
              <a:buClr>
                <a:srgbClr val="484237"/>
              </a:buClr>
              <a:buSzPts val="2750"/>
              <a:buFont typeface="Gelasio"/>
              <a:buNone/>
            </a:pPr>
            <a:r>
              <a:t/>
            </a:r>
            <a:endParaRPr sz="2750">
              <a:solidFill>
                <a:srgbClr val="484237"/>
              </a:solidFill>
              <a:latin typeface="Gelasio"/>
              <a:ea typeface="Gelasio"/>
              <a:cs typeface="Gelasio"/>
              <a:sym typeface="Gelasio"/>
            </a:endParaRPr>
          </a:p>
        </p:txBody>
      </p:sp>
      <p:sp>
        <p:nvSpPr>
          <p:cNvPr id="146" name="Google Shape;146;p20"/>
          <p:cNvSpPr/>
          <p:nvPr/>
        </p:nvSpPr>
        <p:spPr>
          <a:xfrm>
            <a:off x="4919472" y="1051560"/>
            <a:ext cx="3291900" cy="777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 sz="1100">
                <a:solidFill>
                  <a:schemeClr val="dk1"/>
                </a:solidFill>
                <a:latin typeface="Gelasio"/>
                <a:ea typeface="Gelasio"/>
                <a:cs typeface="Gelasio"/>
                <a:sym typeface="Gelasio"/>
              </a:rPr>
              <a:t>Top Importance</a:t>
            </a:r>
            <a:endParaRPr b="1" sz="1100">
              <a:solidFill>
                <a:schemeClr val="dk1"/>
              </a:solidFill>
              <a:latin typeface="Gelasio"/>
              <a:ea typeface="Gelasio"/>
              <a:cs typeface="Gelasio"/>
              <a:sym typeface="Gelasio"/>
            </a:endParaRPr>
          </a:p>
          <a:p>
            <a:pPr indent="-298450" lvl="0" marL="457200" rtl="0" algn="l">
              <a:lnSpc>
                <a:spcPct val="115000"/>
              </a:lnSpc>
              <a:spcBef>
                <a:spcPts val="1200"/>
              </a:spcBef>
              <a:spcAft>
                <a:spcPts val="0"/>
              </a:spcAft>
              <a:buClr>
                <a:schemeClr val="dk1"/>
              </a:buClr>
              <a:buSzPts val="1100"/>
              <a:buFont typeface="Gelasio"/>
              <a:buChar char="●"/>
            </a:pPr>
            <a:r>
              <a:rPr lang="en" sz="1100">
                <a:solidFill>
                  <a:schemeClr val="dk1"/>
                </a:solidFill>
                <a:latin typeface="Gelasio"/>
                <a:ea typeface="Gelasio"/>
                <a:cs typeface="Gelasio"/>
                <a:sym typeface="Gelasio"/>
              </a:rPr>
              <a:t>Stress Level: 0.711</a:t>
            </a:r>
            <a:endParaRPr sz="1100">
              <a:solidFill>
                <a:schemeClr val="dk1"/>
              </a:solidFill>
              <a:latin typeface="Gelasio"/>
              <a:ea typeface="Gelasio"/>
              <a:cs typeface="Gelasio"/>
              <a:sym typeface="Gelasio"/>
            </a:endParaRPr>
          </a:p>
          <a:p>
            <a:pPr indent="-298450" lvl="0" marL="457200" rtl="0" algn="l">
              <a:lnSpc>
                <a:spcPct val="115000"/>
              </a:lnSpc>
              <a:spcBef>
                <a:spcPts val="0"/>
              </a:spcBef>
              <a:spcAft>
                <a:spcPts val="0"/>
              </a:spcAft>
              <a:buClr>
                <a:schemeClr val="dk1"/>
              </a:buClr>
              <a:buSzPts val="1100"/>
              <a:buFont typeface="Gelasio"/>
              <a:buChar char="●"/>
            </a:pPr>
            <a:r>
              <a:rPr lang="en" sz="1100">
                <a:solidFill>
                  <a:schemeClr val="dk1"/>
                </a:solidFill>
                <a:latin typeface="Gelasio"/>
                <a:ea typeface="Gelasio"/>
                <a:cs typeface="Gelasio"/>
                <a:sym typeface="Gelasio"/>
              </a:rPr>
              <a:t>Physical Activity: 0.135</a:t>
            </a:r>
            <a:endParaRPr sz="1100">
              <a:solidFill>
                <a:schemeClr val="dk1"/>
              </a:solidFill>
              <a:latin typeface="Gelasio"/>
              <a:ea typeface="Gelasio"/>
              <a:cs typeface="Gelasio"/>
              <a:sym typeface="Gelasio"/>
            </a:endParaRPr>
          </a:p>
          <a:p>
            <a:pPr indent="-298450" lvl="0" marL="457200" rtl="0" algn="l">
              <a:lnSpc>
                <a:spcPct val="115000"/>
              </a:lnSpc>
              <a:spcBef>
                <a:spcPts val="0"/>
              </a:spcBef>
              <a:spcAft>
                <a:spcPts val="0"/>
              </a:spcAft>
              <a:buClr>
                <a:schemeClr val="dk1"/>
              </a:buClr>
              <a:buSzPts val="1100"/>
              <a:buFont typeface="Gelasio"/>
              <a:buChar char="●"/>
            </a:pPr>
            <a:r>
              <a:rPr lang="en" sz="1100">
                <a:solidFill>
                  <a:schemeClr val="dk1"/>
                </a:solidFill>
                <a:latin typeface="Gelasio"/>
                <a:ea typeface="Gelasio"/>
                <a:cs typeface="Gelasio"/>
                <a:sym typeface="Gelasio"/>
              </a:rPr>
              <a:t>Age: 0.081</a:t>
            </a:r>
            <a:endParaRPr sz="1100">
              <a:solidFill>
                <a:schemeClr val="dk1"/>
              </a:solidFill>
              <a:latin typeface="Gelasio"/>
              <a:ea typeface="Gelasio"/>
              <a:cs typeface="Gelasio"/>
              <a:sym typeface="Gelasio"/>
            </a:endParaRPr>
          </a:p>
        </p:txBody>
      </p:sp>
      <p:pic>
        <p:nvPicPr>
          <p:cNvPr id="147" name="Google Shape;147;p20"/>
          <p:cNvPicPr preferRelativeResize="0"/>
          <p:nvPr/>
        </p:nvPicPr>
        <p:blipFill>
          <a:blip r:embed="rId3">
            <a:alphaModFix/>
          </a:blip>
          <a:stretch>
            <a:fillRect/>
          </a:stretch>
        </p:blipFill>
        <p:spPr>
          <a:xfrm>
            <a:off x="950976" y="2332337"/>
            <a:ext cx="3129280" cy="2514600"/>
          </a:xfrm>
          <a:prstGeom prst="rect">
            <a:avLst/>
          </a:prstGeom>
          <a:noFill/>
          <a:ln cap="flat" cmpd="sng" w="28575">
            <a:solidFill>
              <a:schemeClr val="dk2"/>
            </a:solidFill>
            <a:prstDash val="solid"/>
            <a:round/>
            <a:headEnd len="sm" w="sm" type="none"/>
            <a:tailEnd len="sm" w="sm" type="none"/>
          </a:ln>
        </p:spPr>
      </p:pic>
      <p:pic>
        <p:nvPicPr>
          <p:cNvPr id="148" name="Google Shape;148;p20"/>
          <p:cNvPicPr preferRelativeResize="0"/>
          <p:nvPr/>
        </p:nvPicPr>
        <p:blipFill>
          <a:blip r:embed="rId4">
            <a:alphaModFix/>
          </a:blip>
          <a:stretch>
            <a:fillRect/>
          </a:stretch>
        </p:blipFill>
        <p:spPr>
          <a:xfrm>
            <a:off x="5001768" y="2332337"/>
            <a:ext cx="3194473" cy="2514600"/>
          </a:xfrm>
          <a:prstGeom prst="rect">
            <a:avLst/>
          </a:prstGeom>
          <a:noFill/>
          <a:ln cap="flat" cmpd="sng" w="28575">
            <a:solidFill>
              <a:schemeClr val="dk2"/>
            </a:solidFill>
            <a:prstDash val="solid"/>
            <a:round/>
            <a:headEnd len="sm" w="sm" type="none"/>
            <a:tailEnd len="sm" w="sm" type="none"/>
          </a:ln>
        </p:spPr>
      </p:pic>
      <p:sp>
        <p:nvSpPr>
          <p:cNvPr id="149" name="Google Shape;149;p20"/>
          <p:cNvSpPr/>
          <p:nvPr/>
        </p:nvSpPr>
        <p:spPr>
          <a:xfrm>
            <a:off x="868680" y="1051560"/>
            <a:ext cx="3291900" cy="777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 sz="1100">
                <a:solidFill>
                  <a:schemeClr val="dk1"/>
                </a:solidFill>
                <a:latin typeface="Gelasio"/>
                <a:ea typeface="Gelasio"/>
                <a:cs typeface="Gelasio"/>
                <a:sym typeface="Gelasio"/>
              </a:rPr>
              <a:t>Model Performance</a:t>
            </a:r>
            <a:endParaRPr b="1" sz="1100">
              <a:solidFill>
                <a:schemeClr val="dk1"/>
              </a:solidFill>
              <a:latin typeface="Gelasio"/>
              <a:ea typeface="Gelasio"/>
              <a:cs typeface="Gelasio"/>
              <a:sym typeface="Gelasio"/>
            </a:endParaRPr>
          </a:p>
          <a:p>
            <a:pPr indent="-298450" lvl="0" marL="457200" rtl="0" algn="l">
              <a:lnSpc>
                <a:spcPct val="115000"/>
              </a:lnSpc>
              <a:spcBef>
                <a:spcPts val="1200"/>
              </a:spcBef>
              <a:spcAft>
                <a:spcPts val="0"/>
              </a:spcAft>
              <a:buClr>
                <a:schemeClr val="dk1"/>
              </a:buClr>
              <a:buSzPts val="1100"/>
              <a:buFont typeface="Gelasio"/>
              <a:buChar char="●"/>
            </a:pPr>
            <a:r>
              <a:rPr lang="en" sz="1100">
                <a:solidFill>
                  <a:schemeClr val="dk1"/>
                </a:solidFill>
                <a:latin typeface="Gelasio"/>
                <a:ea typeface="Gelasio"/>
                <a:cs typeface="Gelasio"/>
                <a:sym typeface="Gelasio"/>
              </a:rPr>
              <a:t>R² = 0.965</a:t>
            </a:r>
            <a:endParaRPr sz="1100">
              <a:solidFill>
                <a:schemeClr val="dk1"/>
              </a:solidFill>
              <a:latin typeface="Gelasio"/>
              <a:ea typeface="Gelasio"/>
              <a:cs typeface="Gelasio"/>
              <a:sym typeface="Gelasio"/>
            </a:endParaRPr>
          </a:p>
          <a:p>
            <a:pPr indent="-298450" lvl="0" marL="457200" rtl="0" algn="l">
              <a:lnSpc>
                <a:spcPct val="115000"/>
              </a:lnSpc>
              <a:spcBef>
                <a:spcPts val="0"/>
              </a:spcBef>
              <a:spcAft>
                <a:spcPts val="0"/>
              </a:spcAft>
              <a:buClr>
                <a:schemeClr val="dk1"/>
              </a:buClr>
              <a:buSzPts val="1100"/>
              <a:buFont typeface="Gelasio"/>
              <a:buChar char="●"/>
            </a:pPr>
            <a:r>
              <a:rPr lang="en" sz="1100">
                <a:solidFill>
                  <a:schemeClr val="dk1"/>
                </a:solidFill>
                <a:latin typeface="Gelasio"/>
                <a:ea typeface="Gelasio"/>
                <a:cs typeface="Gelasio"/>
                <a:sym typeface="Gelasio"/>
              </a:rPr>
              <a:t>RMSE = 0.136</a:t>
            </a:r>
            <a:endParaRPr sz="1100">
              <a:solidFill>
                <a:srgbClr val="746558"/>
              </a:solidFill>
              <a:latin typeface="Gelasio"/>
              <a:ea typeface="Gelasio"/>
              <a:cs typeface="Gelasio"/>
              <a:sym typeface="Gelasio"/>
            </a:endParaRPr>
          </a:p>
        </p:txBody>
      </p:sp>
      <p:pic>
        <p:nvPicPr>
          <p:cNvPr id="150" name="Google Shape;150;p20"/>
          <p:cNvPicPr preferRelativeResize="0"/>
          <p:nvPr/>
        </p:nvPicPr>
        <p:blipFill>
          <a:blip r:embed="rId5">
            <a:alphaModFix/>
          </a:blip>
          <a:stretch>
            <a:fillRect/>
          </a:stretch>
        </p:blipFill>
        <p:spPr>
          <a:xfrm>
            <a:off x="950963" y="2332337"/>
            <a:ext cx="3129280" cy="2514600"/>
          </a:xfrm>
          <a:prstGeom prst="rect">
            <a:avLst/>
          </a:prstGeom>
          <a:noFill/>
          <a:ln cap="flat" cmpd="sng" w="28575">
            <a:solidFill>
              <a:schemeClr val="dk2"/>
            </a:solidFill>
            <a:prstDash val="solid"/>
            <a:round/>
            <a:headEnd len="sm" w="sm" type="none"/>
            <a:tailEnd len="sm" w="sm" type="none"/>
          </a:ln>
        </p:spPr>
      </p:pic>
      <p:pic>
        <p:nvPicPr>
          <p:cNvPr id="151" name="Google Shape;151;p20"/>
          <p:cNvPicPr preferRelativeResize="0"/>
          <p:nvPr/>
        </p:nvPicPr>
        <p:blipFill>
          <a:blip r:embed="rId6">
            <a:alphaModFix/>
          </a:blip>
          <a:stretch>
            <a:fillRect/>
          </a:stretch>
        </p:blipFill>
        <p:spPr>
          <a:xfrm>
            <a:off x="5001775" y="2332337"/>
            <a:ext cx="3194473" cy="2514600"/>
          </a:xfrm>
          <a:prstGeom prst="rect">
            <a:avLst/>
          </a:prstGeom>
          <a:noFill/>
          <a:ln cap="flat" cmpd="sng" w="28575">
            <a:solidFill>
              <a:schemeClr val="dk2"/>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0"/>
        </a:solidFill>
      </p:bgPr>
    </p:bg>
    <p:spTree>
      <p:nvGrpSpPr>
        <p:cNvPr id="155" name="Shape 155"/>
        <p:cNvGrpSpPr/>
        <p:nvPr/>
      </p:nvGrpSpPr>
      <p:grpSpPr>
        <a:xfrm>
          <a:off x="0" y="0"/>
          <a:ext cx="0" cy="0"/>
          <a:chOff x="0" y="0"/>
          <a:chExt cx="0" cy="0"/>
        </a:xfrm>
      </p:grpSpPr>
      <p:grpSp>
        <p:nvGrpSpPr>
          <p:cNvPr id="156" name="Google Shape;156;p21"/>
          <p:cNvGrpSpPr/>
          <p:nvPr/>
        </p:nvGrpSpPr>
        <p:grpSpPr>
          <a:xfrm>
            <a:off x="277550" y="457200"/>
            <a:ext cx="8554625" cy="2939160"/>
            <a:chOff x="277550" y="914400"/>
            <a:chExt cx="8554625" cy="2939160"/>
          </a:xfrm>
        </p:grpSpPr>
        <p:sp>
          <p:nvSpPr>
            <p:cNvPr id="157" name="Google Shape;157;p21"/>
            <p:cNvSpPr/>
            <p:nvPr/>
          </p:nvSpPr>
          <p:spPr>
            <a:xfrm>
              <a:off x="496119" y="914400"/>
              <a:ext cx="3544200" cy="443100"/>
            </a:xfrm>
            <a:prstGeom prst="rect">
              <a:avLst/>
            </a:prstGeom>
            <a:noFill/>
            <a:ln>
              <a:noFill/>
            </a:ln>
          </p:spPr>
          <p:txBody>
            <a:bodyPr anchorCtr="0" anchor="t" bIns="0" lIns="0" spcFirstLastPara="1" rIns="0" wrap="square" tIns="0">
              <a:noAutofit/>
            </a:bodyPr>
            <a:lstStyle/>
            <a:p>
              <a:pPr indent="0" lvl="0" marL="0" marR="0" rtl="0" algn="l">
                <a:lnSpc>
                  <a:spcPct val="125454"/>
                </a:lnSpc>
                <a:spcBef>
                  <a:spcPts val="0"/>
                </a:spcBef>
                <a:spcAft>
                  <a:spcPts val="0"/>
                </a:spcAft>
                <a:buClr>
                  <a:srgbClr val="484237"/>
                </a:buClr>
                <a:buSzPts val="2750"/>
                <a:buFont typeface="Gelasio"/>
                <a:buNone/>
              </a:pPr>
              <a:r>
                <a:rPr lang="en" sz="2750">
                  <a:solidFill>
                    <a:srgbClr val="484237"/>
                  </a:solidFill>
                  <a:latin typeface="Gelasio"/>
                  <a:ea typeface="Gelasio"/>
                  <a:cs typeface="Gelasio"/>
                  <a:sym typeface="Gelasio"/>
                </a:rPr>
                <a:t>Model Comparison</a:t>
              </a:r>
              <a:endParaRPr b="0" i="0" sz="2750" u="none" cap="none" strike="noStrike"/>
            </a:p>
          </p:txBody>
        </p:sp>
        <p:grpSp>
          <p:nvGrpSpPr>
            <p:cNvPr id="158" name="Google Shape;158;p21"/>
            <p:cNvGrpSpPr/>
            <p:nvPr/>
          </p:nvGrpSpPr>
          <p:grpSpPr>
            <a:xfrm>
              <a:off x="277550" y="1737360"/>
              <a:ext cx="8554625" cy="2116200"/>
              <a:chOff x="277550" y="1906625"/>
              <a:chExt cx="8554625" cy="2116200"/>
            </a:xfrm>
          </p:grpSpPr>
          <p:sp>
            <p:nvSpPr>
              <p:cNvPr id="159" name="Google Shape;159;p21"/>
              <p:cNvSpPr/>
              <p:nvPr/>
            </p:nvSpPr>
            <p:spPr>
              <a:xfrm>
                <a:off x="302226" y="3088625"/>
                <a:ext cx="4078500" cy="934200"/>
              </a:xfrm>
              <a:prstGeom prst="roundRect">
                <a:avLst>
                  <a:gd fmla="val 8453" name="adj"/>
                </a:avLst>
              </a:prstGeom>
              <a:solidFill>
                <a:srgbClr val="F9F6F0"/>
              </a:solidFill>
              <a:ln cap="flat" cmpd="sng" w="16450">
                <a:solidFill>
                  <a:srgbClr val="D4CEC3"/>
                </a:solidFill>
                <a:prstDash val="solid"/>
                <a:round/>
                <a:headEnd len="sm" w="sm" type="none"/>
                <a:tailEnd len="sm" w="sm" type="none"/>
              </a:ln>
            </p:spPr>
            <p:txBody>
              <a:bodyPr anchorCtr="0" anchor="ctr" bIns="78950" lIns="78950" spcFirstLastPara="1" rIns="78950" wrap="square" tIns="78950">
                <a:noAutofit/>
              </a:bodyPr>
              <a:lstStyle/>
              <a:p>
                <a:pPr indent="0" lvl="0" marL="0" rtl="0" algn="l">
                  <a:spcBef>
                    <a:spcPts val="0"/>
                  </a:spcBef>
                  <a:spcAft>
                    <a:spcPts val="0"/>
                  </a:spcAft>
                  <a:buNone/>
                </a:pPr>
                <a:r>
                  <a:t/>
                </a:r>
                <a:endParaRPr sz="1209"/>
              </a:p>
            </p:txBody>
          </p:sp>
          <p:sp>
            <p:nvSpPr>
              <p:cNvPr id="160" name="Google Shape;160;p21"/>
              <p:cNvSpPr/>
              <p:nvPr/>
            </p:nvSpPr>
            <p:spPr>
              <a:xfrm>
                <a:off x="285775" y="3088625"/>
                <a:ext cx="65700" cy="934200"/>
              </a:xfrm>
              <a:prstGeom prst="roundRect">
                <a:avLst>
                  <a:gd fmla="val 27907" name="adj"/>
                </a:avLst>
              </a:prstGeom>
              <a:solidFill>
                <a:srgbClr val="D3C5B6"/>
              </a:solidFill>
              <a:ln>
                <a:noFill/>
              </a:ln>
            </p:spPr>
            <p:txBody>
              <a:bodyPr anchorCtr="0" anchor="ctr" bIns="78950" lIns="78950" spcFirstLastPara="1" rIns="78950" wrap="square" tIns="78950">
                <a:noAutofit/>
              </a:bodyPr>
              <a:lstStyle/>
              <a:p>
                <a:pPr indent="0" lvl="0" marL="0" rtl="0" algn="l">
                  <a:spcBef>
                    <a:spcPts val="0"/>
                  </a:spcBef>
                  <a:spcAft>
                    <a:spcPts val="0"/>
                  </a:spcAft>
                  <a:buNone/>
                </a:pPr>
                <a:r>
                  <a:t/>
                </a:r>
                <a:endParaRPr/>
              </a:p>
            </p:txBody>
          </p:sp>
          <p:sp>
            <p:nvSpPr>
              <p:cNvPr id="161" name="Google Shape;161;p21"/>
              <p:cNvSpPr/>
              <p:nvPr/>
            </p:nvSpPr>
            <p:spPr>
              <a:xfrm>
                <a:off x="294001" y="1906625"/>
                <a:ext cx="4078500" cy="934200"/>
              </a:xfrm>
              <a:prstGeom prst="roundRect">
                <a:avLst>
                  <a:gd fmla="val 8453" name="adj"/>
                </a:avLst>
              </a:prstGeom>
              <a:solidFill>
                <a:srgbClr val="F9F6F0"/>
              </a:solidFill>
              <a:ln cap="flat" cmpd="sng" w="16450">
                <a:solidFill>
                  <a:srgbClr val="D4CEC3"/>
                </a:solidFill>
                <a:prstDash val="solid"/>
                <a:round/>
                <a:headEnd len="sm" w="sm" type="none"/>
                <a:tailEnd len="sm" w="sm" type="none"/>
              </a:ln>
            </p:spPr>
            <p:txBody>
              <a:bodyPr anchorCtr="0" anchor="ctr" bIns="78950" lIns="78950" spcFirstLastPara="1" rIns="78950" wrap="square" tIns="78950">
                <a:noAutofit/>
              </a:bodyPr>
              <a:lstStyle/>
              <a:p>
                <a:pPr indent="0" lvl="0" marL="0" rtl="0" algn="l">
                  <a:spcBef>
                    <a:spcPts val="0"/>
                  </a:spcBef>
                  <a:spcAft>
                    <a:spcPts val="0"/>
                  </a:spcAft>
                  <a:buNone/>
                </a:pPr>
                <a:r>
                  <a:t/>
                </a:r>
                <a:endParaRPr sz="1209"/>
              </a:p>
            </p:txBody>
          </p:sp>
          <p:sp>
            <p:nvSpPr>
              <p:cNvPr id="162" name="Google Shape;162;p21"/>
              <p:cNvSpPr/>
              <p:nvPr/>
            </p:nvSpPr>
            <p:spPr>
              <a:xfrm>
                <a:off x="277550" y="1906625"/>
                <a:ext cx="65700" cy="934200"/>
              </a:xfrm>
              <a:prstGeom prst="roundRect">
                <a:avLst>
                  <a:gd fmla="val 27907" name="adj"/>
                </a:avLst>
              </a:prstGeom>
              <a:solidFill>
                <a:srgbClr val="D3C5B6"/>
              </a:solidFill>
              <a:ln>
                <a:noFill/>
              </a:ln>
            </p:spPr>
            <p:txBody>
              <a:bodyPr anchorCtr="0" anchor="ctr" bIns="78950" lIns="78950" spcFirstLastPara="1" rIns="78950" wrap="square" tIns="78950">
                <a:noAutofit/>
              </a:bodyPr>
              <a:lstStyle/>
              <a:p>
                <a:pPr indent="0" lvl="0" marL="0" rtl="0" algn="l">
                  <a:spcBef>
                    <a:spcPts val="0"/>
                  </a:spcBef>
                  <a:spcAft>
                    <a:spcPts val="0"/>
                  </a:spcAft>
                  <a:buNone/>
                </a:pPr>
                <a:r>
                  <a:t/>
                </a:r>
                <a:endParaRPr/>
              </a:p>
            </p:txBody>
          </p:sp>
          <p:sp>
            <p:nvSpPr>
              <p:cNvPr id="163" name="Google Shape;163;p21"/>
              <p:cNvSpPr/>
              <p:nvPr/>
            </p:nvSpPr>
            <p:spPr>
              <a:xfrm>
                <a:off x="4745451" y="1906625"/>
                <a:ext cx="4078500" cy="934200"/>
              </a:xfrm>
              <a:prstGeom prst="roundRect">
                <a:avLst>
                  <a:gd fmla="val 8453" name="adj"/>
                </a:avLst>
              </a:prstGeom>
              <a:solidFill>
                <a:srgbClr val="F9F6F0"/>
              </a:solidFill>
              <a:ln cap="flat" cmpd="sng" w="16450">
                <a:solidFill>
                  <a:srgbClr val="D4CEC3"/>
                </a:solidFill>
                <a:prstDash val="solid"/>
                <a:round/>
                <a:headEnd len="sm" w="sm" type="none"/>
                <a:tailEnd len="sm" w="sm" type="none"/>
              </a:ln>
            </p:spPr>
            <p:txBody>
              <a:bodyPr anchorCtr="0" anchor="ctr" bIns="78950" lIns="78950" spcFirstLastPara="1" rIns="78950" wrap="square" tIns="78950">
                <a:noAutofit/>
              </a:bodyPr>
              <a:lstStyle/>
              <a:p>
                <a:pPr indent="0" lvl="0" marL="0" rtl="0" algn="l">
                  <a:spcBef>
                    <a:spcPts val="0"/>
                  </a:spcBef>
                  <a:spcAft>
                    <a:spcPts val="0"/>
                  </a:spcAft>
                  <a:buNone/>
                </a:pPr>
                <a:r>
                  <a:t/>
                </a:r>
                <a:endParaRPr sz="1209"/>
              </a:p>
            </p:txBody>
          </p:sp>
          <p:sp>
            <p:nvSpPr>
              <p:cNvPr id="164" name="Google Shape;164;p21"/>
              <p:cNvSpPr/>
              <p:nvPr/>
            </p:nvSpPr>
            <p:spPr>
              <a:xfrm>
                <a:off x="4729000" y="1906625"/>
                <a:ext cx="65700" cy="934200"/>
              </a:xfrm>
              <a:prstGeom prst="roundRect">
                <a:avLst>
                  <a:gd fmla="val 27907" name="adj"/>
                </a:avLst>
              </a:prstGeom>
              <a:solidFill>
                <a:srgbClr val="D3C5B6"/>
              </a:solidFill>
              <a:ln>
                <a:noFill/>
              </a:ln>
            </p:spPr>
            <p:txBody>
              <a:bodyPr anchorCtr="0" anchor="ctr" bIns="78950" lIns="78950" spcFirstLastPara="1" rIns="78950" wrap="square" tIns="78950">
                <a:noAutofit/>
              </a:bodyPr>
              <a:lstStyle/>
              <a:p>
                <a:pPr indent="0" lvl="0" marL="0" rtl="0" algn="l">
                  <a:spcBef>
                    <a:spcPts val="0"/>
                  </a:spcBef>
                  <a:spcAft>
                    <a:spcPts val="0"/>
                  </a:spcAft>
                  <a:buNone/>
                </a:pPr>
                <a:r>
                  <a:t/>
                </a:r>
                <a:endParaRPr/>
              </a:p>
            </p:txBody>
          </p:sp>
          <p:sp>
            <p:nvSpPr>
              <p:cNvPr id="165" name="Google Shape;165;p21"/>
              <p:cNvSpPr/>
              <p:nvPr/>
            </p:nvSpPr>
            <p:spPr>
              <a:xfrm>
                <a:off x="4753676" y="3088625"/>
                <a:ext cx="4078500" cy="934200"/>
              </a:xfrm>
              <a:prstGeom prst="roundRect">
                <a:avLst>
                  <a:gd fmla="val 8453" name="adj"/>
                </a:avLst>
              </a:prstGeom>
              <a:solidFill>
                <a:srgbClr val="F9F6F0"/>
              </a:solidFill>
              <a:ln cap="flat" cmpd="sng" w="16450">
                <a:solidFill>
                  <a:srgbClr val="D4CEC3"/>
                </a:solidFill>
                <a:prstDash val="solid"/>
                <a:round/>
                <a:headEnd len="sm" w="sm" type="none"/>
                <a:tailEnd len="sm" w="sm" type="none"/>
              </a:ln>
            </p:spPr>
            <p:txBody>
              <a:bodyPr anchorCtr="0" anchor="ctr" bIns="78950" lIns="78950" spcFirstLastPara="1" rIns="78950" wrap="square" tIns="78950">
                <a:noAutofit/>
              </a:bodyPr>
              <a:lstStyle/>
              <a:p>
                <a:pPr indent="0" lvl="0" marL="0" rtl="0" algn="l">
                  <a:spcBef>
                    <a:spcPts val="0"/>
                  </a:spcBef>
                  <a:spcAft>
                    <a:spcPts val="0"/>
                  </a:spcAft>
                  <a:buNone/>
                </a:pPr>
                <a:r>
                  <a:t/>
                </a:r>
                <a:endParaRPr sz="1209"/>
              </a:p>
            </p:txBody>
          </p:sp>
          <p:sp>
            <p:nvSpPr>
              <p:cNvPr id="166" name="Google Shape;166;p21"/>
              <p:cNvSpPr/>
              <p:nvPr/>
            </p:nvSpPr>
            <p:spPr>
              <a:xfrm>
                <a:off x="4737225" y="3088625"/>
                <a:ext cx="65700" cy="934200"/>
              </a:xfrm>
              <a:prstGeom prst="roundRect">
                <a:avLst>
                  <a:gd fmla="val 27907" name="adj"/>
                </a:avLst>
              </a:prstGeom>
              <a:solidFill>
                <a:srgbClr val="D3C5B6"/>
              </a:solidFill>
              <a:ln>
                <a:noFill/>
              </a:ln>
            </p:spPr>
            <p:txBody>
              <a:bodyPr anchorCtr="0" anchor="ctr" bIns="78950" lIns="78950" spcFirstLastPara="1" rIns="78950" wrap="square" tIns="78950">
                <a:noAutofit/>
              </a:bodyPr>
              <a:lstStyle/>
              <a:p>
                <a:pPr indent="0" lvl="0" marL="0" rtl="0" algn="l">
                  <a:spcBef>
                    <a:spcPts val="0"/>
                  </a:spcBef>
                  <a:spcAft>
                    <a:spcPts val="0"/>
                  </a:spcAft>
                  <a:buNone/>
                </a:pPr>
                <a:r>
                  <a:t/>
                </a:r>
                <a:endParaRPr/>
              </a:p>
            </p:txBody>
          </p:sp>
          <p:sp>
            <p:nvSpPr>
              <p:cNvPr id="167" name="Google Shape;167;p21"/>
              <p:cNvSpPr/>
              <p:nvPr/>
            </p:nvSpPr>
            <p:spPr>
              <a:xfrm>
                <a:off x="664950" y="2261985"/>
                <a:ext cx="2743200" cy="223500"/>
              </a:xfrm>
              <a:prstGeom prst="rect">
                <a:avLst/>
              </a:prstGeom>
              <a:noFill/>
              <a:ln>
                <a:noFill/>
              </a:ln>
            </p:spPr>
            <p:txBody>
              <a:bodyPr anchorCtr="0" anchor="t" bIns="0" lIns="0" spcFirstLastPara="1" rIns="0" wrap="square" tIns="0">
                <a:noAutofit/>
              </a:bodyPr>
              <a:lstStyle/>
              <a:p>
                <a:pPr indent="0" lvl="0" marL="0" rtl="0" algn="l">
                  <a:lnSpc>
                    <a:spcPct val="125925"/>
                  </a:lnSpc>
                  <a:spcBef>
                    <a:spcPts val="0"/>
                  </a:spcBef>
                  <a:spcAft>
                    <a:spcPts val="0"/>
                  </a:spcAft>
                  <a:buNone/>
                </a:pPr>
                <a:r>
                  <a:rPr lang="en" sz="1350">
                    <a:solidFill>
                      <a:srgbClr val="746558"/>
                    </a:solidFill>
                    <a:latin typeface="Gelasio"/>
                    <a:ea typeface="Gelasio"/>
                    <a:cs typeface="Gelasio"/>
                    <a:sym typeface="Gelasio"/>
                  </a:rPr>
                  <a:t>Linear Regression</a:t>
                </a:r>
                <a:endParaRPr sz="1350">
                  <a:solidFill>
                    <a:srgbClr val="746558"/>
                  </a:solidFill>
                  <a:latin typeface="Gelasio"/>
                  <a:ea typeface="Gelasio"/>
                  <a:cs typeface="Gelasio"/>
                  <a:sym typeface="Gelasio"/>
                </a:endParaRPr>
              </a:p>
              <a:p>
                <a:pPr indent="0" lvl="0" marL="0" rtl="0" algn="l">
                  <a:lnSpc>
                    <a:spcPct val="125925"/>
                  </a:lnSpc>
                  <a:spcBef>
                    <a:spcPts val="0"/>
                  </a:spcBef>
                  <a:spcAft>
                    <a:spcPts val="0"/>
                  </a:spcAft>
                  <a:buNone/>
                </a:pPr>
                <a:r>
                  <a:t/>
                </a:r>
                <a:endParaRPr sz="1350">
                  <a:solidFill>
                    <a:srgbClr val="746558"/>
                  </a:solidFill>
                  <a:latin typeface="Gelasio"/>
                  <a:ea typeface="Gelasio"/>
                  <a:cs typeface="Gelasio"/>
                  <a:sym typeface="Gelasio"/>
                </a:endParaRPr>
              </a:p>
            </p:txBody>
          </p:sp>
          <p:sp>
            <p:nvSpPr>
              <p:cNvPr id="168" name="Google Shape;168;p21"/>
              <p:cNvSpPr/>
              <p:nvPr/>
            </p:nvSpPr>
            <p:spPr>
              <a:xfrm>
                <a:off x="667512" y="3438144"/>
                <a:ext cx="2743200" cy="223500"/>
              </a:xfrm>
              <a:prstGeom prst="rect">
                <a:avLst/>
              </a:prstGeom>
              <a:noFill/>
              <a:ln>
                <a:noFill/>
              </a:ln>
            </p:spPr>
            <p:txBody>
              <a:bodyPr anchorCtr="0" anchor="t" bIns="0" lIns="0" spcFirstLastPara="1" rIns="0" wrap="square" tIns="0">
                <a:noAutofit/>
              </a:bodyPr>
              <a:lstStyle/>
              <a:p>
                <a:pPr indent="0" lvl="0" marL="0" rtl="0" algn="l">
                  <a:lnSpc>
                    <a:spcPct val="125925"/>
                  </a:lnSpc>
                  <a:spcBef>
                    <a:spcPts val="0"/>
                  </a:spcBef>
                  <a:spcAft>
                    <a:spcPts val="0"/>
                  </a:spcAft>
                  <a:buNone/>
                </a:pPr>
                <a:r>
                  <a:rPr lang="en" sz="1350">
                    <a:solidFill>
                      <a:srgbClr val="746558"/>
                    </a:solidFill>
                    <a:latin typeface="Gelasio"/>
                    <a:ea typeface="Gelasio"/>
                    <a:cs typeface="Gelasio"/>
                    <a:sym typeface="Gelasio"/>
                  </a:rPr>
                  <a:t>Random Forest</a:t>
                </a:r>
                <a:endParaRPr sz="1350">
                  <a:solidFill>
                    <a:srgbClr val="746558"/>
                  </a:solidFill>
                  <a:latin typeface="Gelasio"/>
                  <a:ea typeface="Gelasio"/>
                  <a:cs typeface="Gelasio"/>
                  <a:sym typeface="Gelasio"/>
                </a:endParaRPr>
              </a:p>
              <a:p>
                <a:pPr indent="0" lvl="0" marL="0" rtl="0" algn="l">
                  <a:lnSpc>
                    <a:spcPct val="125925"/>
                  </a:lnSpc>
                  <a:spcBef>
                    <a:spcPts val="0"/>
                  </a:spcBef>
                  <a:spcAft>
                    <a:spcPts val="0"/>
                  </a:spcAft>
                  <a:buNone/>
                </a:pPr>
                <a:r>
                  <a:t/>
                </a:r>
                <a:endParaRPr sz="1350">
                  <a:solidFill>
                    <a:srgbClr val="746558"/>
                  </a:solidFill>
                  <a:latin typeface="Gelasio"/>
                  <a:ea typeface="Gelasio"/>
                  <a:cs typeface="Gelasio"/>
                  <a:sym typeface="Gelasio"/>
                </a:endParaRPr>
              </a:p>
            </p:txBody>
          </p:sp>
          <p:sp>
            <p:nvSpPr>
              <p:cNvPr id="169" name="Google Shape;169;p21"/>
              <p:cNvSpPr/>
              <p:nvPr/>
            </p:nvSpPr>
            <p:spPr>
              <a:xfrm>
                <a:off x="4975605" y="1985085"/>
                <a:ext cx="3291900" cy="777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 sz="1100">
                    <a:solidFill>
                      <a:srgbClr val="746558"/>
                    </a:solidFill>
                    <a:latin typeface="Gelasio"/>
                    <a:ea typeface="Gelasio"/>
                    <a:cs typeface="Gelasio"/>
                    <a:sym typeface="Gelasio"/>
                  </a:rPr>
                  <a:t>Model Performance</a:t>
                </a:r>
                <a:endParaRPr b="1" sz="1100">
                  <a:solidFill>
                    <a:srgbClr val="746558"/>
                  </a:solidFill>
                  <a:latin typeface="Gelasio"/>
                  <a:ea typeface="Gelasio"/>
                  <a:cs typeface="Gelasio"/>
                  <a:sym typeface="Gelasio"/>
                </a:endParaRPr>
              </a:p>
              <a:p>
                <a:pPr indent="-298450" lvl="0" marL="457200" rtl="0" algn="l">
                  <a:lnSpc>
                    <a:spcPct val="115000"/>
                  </a:lnSpc>
                  <a:spcBef>
                    <a:spcPts val="120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R² = 0.806</a:t>
                </a:r>
                <a:endParaRPr sz="1100">
                  <a:solidFill>
                    <a:srgbClr val="746558"/>
                  </a:solidFill>
                  <a:latin typeface="Gelasio"/>
                  <a:ea typeface="Gelasio"/>
                  <a:cs typeface="Gelasio"/>
                  <a:sym typeface="Gelasio"/>
                </a:endParaRPr>
              </a:p>
              <a:p>
                <a:pPr indent="-298450" lvl="0" marL="457200" rtl="0" algn="l">
                  <a:lnSpc>
                    <a:spcPct val="11500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RMSE = 0.322</a:t>
                </a:r>
                <a:endParaRPr sz="1100">
                  <a:solidFill>
                    <a:srgbClr val="746558"/>
                  </a:solidFill>
                  <a:latin typeface="Gelasio"/>
                  <a:ea typeface="Gelasio"/>
                  <a:cs typeface="Gelasio"/>
                  <a:sym typeface="Gelasio"/>
                </a:endParaRPr>
              </a:p>
            </p:txBody>
          </p:sp>
          <p:sp>
            <p:nvSpPr>
              <p:cNvPr id="170" name="Google Shape;170;p21"/>
              <p:cNvSpPr/>
              <p:nvPr/>
            </p:nvSpPr>
            <p:spPr>
              <a:xfrm>
                <a:off x="4975605" y="3167085"/>
                <a:ext cx="3291900" cy="777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 sz="1100">
                    <a:solidFill>
                      <a:srgbClr val="746558"/>
                    </a:solidFill>
                    <a:latin typeface="Gelasio"/>
                    <a:ea typeface="Gelasio"/>
                    <a:cs typeface="Gelasio"/>
                    <a:sym typeface="Gelasio"/>
                  </a:rPr>
                  <a:t>Model Performance</a:t>
                </a:r>
                <a:endParaRPr b="1" sz="1100">
                  <a:solidFill>
                    <a:srgbClr val="746558"/>
                  </a:solidFill>
                  <a:latin typeface="Gelasio"/>
                  <a:ea typeface="Gelasio"/>
                  <a:cs typeface="Gelasio"/>
                  <a:sym typeface="Gelasio"/>
                </a:endParaRPr>
              </a:p>
              <a:p>
                <a:pPr indent="-298450" lvl="0" marL="457200" rtl="0" algn="l">
                  <a:lnSpc>
                    <a:spcPct val="115000"/>
                  </a:lnSpc>
                  <a:spcBef>
                    <a:spcPts val="120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R² = 0.965</a:t>
                </a:r>
                <a:endParaRPr sz="1100">
                  <a:solidFill>
                    <a:srgbClr val="746558"/>
                  </a:solidFill>
                  <a:latin typeface="Gelasio"/>
                  <a:ea typeface="Gelasio"/>
                  <a:cs typeface="Gelasio"/>
                  <a:sym typeface="Gelasio"/>
                </a:endParaRPr>
              </a:p>
              <a:p>
                <a:pPr indent="-298450" lvl="0" marL="457200" rtl="0" algn="l">
                  <a:lnSpc>
                    <a:spcPct val="115000"/>
                  </a:lnSpc>
                  <a:spcBef>
                    <a:spcPts val="0"/>
                  </a:spcBef>
                  <a:spcAft>
                    <a:spcPts val="0"/>
                  </a:spcAft>
                  <a:buClr>
                    <a:srgbClr val="746558"/>
                  </a:buClr>
                  <a:buSzPts val="1100"/>
                  <a:buFont typeface="Gelasio"/>
                  <a:buChar char="●"/>
                </a:pPr>
                <a:r>
                  <a:rPr lang="en" sz="1100">
                    <a:solidFill>
                      <a:srgbClr val="746558"/>
                    </a:solidFill>
                    <a:latin typeface="Gelasio"/>
                    <a:ea typeface="Gelasio"/>
                    <a:cs typeface="Gelasio"/>
                    <a:sym typeface="Gelasio"/>
                  </a:rPr>
                  <a:t>RMSE = 0.136</a:t>
                </a:r>
                <a:endParaRPr sz="1100">
                  <a:solidFill>
                    <a:srgbClr val="746558"/>
                  </a:solidFill>
                  <a:latin typeface="Gelasio"/>
                  <a:ea typeface="Gelasio"/>
                  <a:cs typeface="Gelasio"/>
                  <a:sym typeface="Gelasio"/>
                </a:endParaRPr>
              </a:p>
            </p:txBody>
          </p:sp>
        </p:grpSp>
      </p:grpSp>
      <p:sp>
        <p:nvSpPr>
          <p:cNvPr id="171" name="Google Shape;171;p21"/>
          <p:cNvSpPr txBox="1"/>
          <p:nvPr/>
        </p:nvSpPr>
        <p:spPr>
          <a:xfrm>
            <a:off x="277550" y="3551700"/>
            <a:ext cx="7328400" cy="15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rgbClr val="746558"/>
                </a:solidFill>
                <a:latin typeface="Gelasio"/>
                <a:ea typeface="Gelasio"/>
                <a:cs typeface="Gelasio"/>
                <a:sym typeface="Gelasio"/>
              </a:rPr>
              <a:t>Interpretation</a:t>
            </a:r>
            <a:endParaRPr b="1" sz="1350">
              <a:solidFill>
                <a:srgbClr val="746558"/>
              </a:solidFill>
              <a:latin typeface="Gelasio"/>
              <a:ea typeface="Gelasio"/>
              <a:cs typeface="Gelasio"/>
              <a:sym typeface="Gelasio"/>
            </a:endParaRPr>
          </a:p>
          <a:p>
            <a:pPr indent="-314325" lvl="0" marL="457200" rtl="0" algn="l">
              <a:lnSpc>
                <a:spcPct val="115000"/>
              </a:lnSpc>
              <a:spcBef>
                <a:spcPts val="1000"/>
              </a:spcBef>
              <a:spcAft>
                <a:spcPts val="0"/>
              </a:spcAft>
              <a:buClr>
                <a:srgbClr val="746558"/>
              </a:buClr>
              <a:buSzPts val="1350"/>
              <a:buFont typeface="Gelasio"/>
              <a:buChar char="●"/>
            </a:pPr>
            <a:r>
              <a:rPr lang="en" sz="1350">
                <a:solidFill>
                  <a:srgbClr val="746558"/>
                </a:solidFill>
                <a:latin typeface="Gelasio"/>
                <a:ea typeface="Gelasio"/>
                <a:cs typeface="Gelasio"/>
                <a:sym typeface="Gelasio"/>
              </a:rPr>
              <a:t>Random Forest achieved higher predictive accuracy</a:t>
            </a:r>
            <a:endParaRPr sz="1350">
              <a:solidFill>
                <a:srgbClr val="746558"/>
              </a:solidFill>
              <a:latin typeface="Gelasio"/>
              <a:ea typeface="Gelasio"/>
              <a:cs typeface="Gelasio"/>
              <a:sym typeface="Gelasio"/>
            </a:endParaRPr>
          </a:p>
          <a:p>
            <a:pPr indent="-314325" lvl="0" marL="457200" rtl="0" algn="l">
              <a:lnSpc>
                <a:spcPct val="115000"/>
              </a:lnSpc>
              <a:spcBef>
                <a:spcPts val="0"/>
              </a:spcBef>
              <a:spcAft>
                <a:spcPts val="0"/>
              </a:spcAft>
              <a:buClr>
                <a:srgbClr val="746558"/>
              </a:buClr>
              <a:buSzPts val="1350"/>
              <a:buFont typeface="Gelasio"/>
              <a:buChar char="●"/>
            </a:pPr>
            <a:r>
              <a:rPr lang="en" sz="1350">
                <a:solidFill>
                  <a:srgbClr val="746558"/>
                </a:solidFill>
                <a:latin typeface="Gelasio"/>
                <a:ea typeface="Gelasio"/>
                <a:cs typeface="Gelasio"/>
                <a:sym typeface="Gelasio"/>
              </a:rPr>
              <a:t>Lower RMSE indicates smaller prediction errors</a:t>
            </a:r>
            <a:endParaRPr sz="1350">
              <a:solidFill>
                <a:srgbClr val="746558"/>
              </a:solidFill>
              <a:latin typeface="Gelasio"/>
              <a:ea typeface="Gelasio"/>
              <a:cs typeface="Gelasio"/>
              <a:sym typeface="Gelasio"/>
            </a:endParaRPr>
          </a:p>
          <a:p>
            <a:pPr indent="-314325" lvl="0" marL="457200" rtl="0" algn="l">
              <a:lnSpc>
                <a:spcPct val="115000"/>
              </a:lnSpc>
              <a:spcBef>
                <a:spcPts val="0"/>
              </a:spcBef>
              <a:spcAft>
                <a:spcPts val="0"/>
              </a:spcAft>
              <a:buClr>
                <a:srgbClr val="746558"/>
              </a:buClr>
              <a:buSzPts val="1350"/>
              <a:buFont typeface="Gelasio"/>
              <a:buChar char="●"/>
            </a:pPr>
            <a:r>
              <a:rPr lang="en" sz="1350">
                <a:solidFill>
                  <a:srgbClr val="746558"/>
                </a:solidFill>
                <a:latin typeface="Gelasio"/>
                <a:ea typeface="Gelasio"/>
                <a:cs typeface="Gelasio"/>
                <a:sym typeface="Gelasio"/>
              </a:rPr>
              <a:t>Suggests nonlinear relationship </a:t>
            </a:r>
            <a:r>
              <a:rPr lang="en" sz="1350">
                <a:solidFill>
                  <a:srgbClr val="746558"/>
                </a:solidFill>
                <a:latin typeface="Gelasio"/>
                <a:ea typeface="Gelasio"/>
                <a:cs typeface="Gelasio"/>
                <a:sym typeface="Gelasio"/>
              </a:rPr>
              <a:t>exist</a:t>
            </a:r>
            <a:r>
              <a:rPr lang="en" sz="1350">
                <a:solidFill>
                  <a:srgbClr val="746558"/>
                </a:solidFill>
                <a:latin typeface="Gelasio"/>
                <a:ea typeface="Gelasio"/>
                <a:cs typeface="Gelasio"/>
                <a:sym typeface="Gelasio"/>
              </a:rPr>
              <a:t> in the dataset</a:t>
            </a:r>
            <a:endParaRPr sz="1350">
              <a:solidFill>
                <a:srgbClr val="746558"/>
              </a:solidFill>
              <a:latin typeface="Gelasio"/>
              <a:ea typeface="Gelasio"/>
              <a:cs typeface="Gelasio"/>
              <a:sym typeface="Gelasio"/>
            </a:endParaRPr>
          </a:p>
          <a:p>
            <a:pPr indent="0" lvl="0" marL="0" marR="381000" rtl="0" algn="l">
              <a:lnSpc>
                <a:spcPct val="115000"/>
              </a:lnSpc>
              <a:spcBef>
                <a:spcPts val="1200"/>
              </a:spcBef>
              <a:spcAft>
                <a:spcPts val="0"/>
              </a:spcAft>
              <a:buNone/>
            </a:pPr>
            <a:r>
              <a:rPr lang="en" sz="1350">
                <a:solidFill>
                  <a:srgbClr val="746558"/>
                </a:solidFill>
                <a:latin typeface="Gelasio"/>
                <a:ea typeface="Gelasio"/>
                <a:cs typeface="Gelasio"/>
                <a:sym typeface="Gelasio"/>
              </a:rPr>
              <a:t>The Random Forest model captures more complex relationships than linear regression.</a:t>
            </a:r>
            <a:endParaRPr sz="1350">
              <a:solidFill>
                <a:srgbClr val="746558"/>
              </a:solidFill>
              <a:latin typeface="Gelasio"/>
              <a:ea typeface="Gelasio"/>
              <a:cs typeface="Gelasio"/>
              <a:sym typeface="Gelasio"/>
            </a:endParaRPr>
          </a:p>
          <a:p>
            <a:pPr indent="0" lvl="0" marL="0" rtl="0" algn="l">
              <a:lnSpc>
                <a:spcPct val="115000"/>
              </a:lnSpc>
              <a:spcBef>
                <a:spcPts val="1200"/>
              </a:spcBef>
              <a:spcAft>
                <a:spcPts val="0"/>
              </a:spcAft>
              <a:buNone/>
            </a:pPr>
            <a:r>
              <a:t/>
            </a:r>
            <a:endParaRPr sz="1350">
              <a:solidFill>
                <a:srgbClr val="746558"/>
              </a:solidFill>
              <a:latin typeface="Gelasio"/>
              <a:ea typeface="Gelasio"/>
              <a:cs typeface="Gelasio"/>
              <a:sym typeface="Gelasi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0"/>
        </a:solidFill>
      </p:bgPr>
    </p:bg>
    <p:spTree>
      <p:nvGrpSpPr>
        <p:cNvPr id="175" name="Shape 175"/>
        <p:cNvGrpSpPr/>
        <p:nvPr/>
      </p:nvGrpSpPr>
      <p:grpSpPr>
        <a:xfrm>
          <a:off x="0" y="0"/>
          <a:ext cx="0" cy="0"/>
          <a:chOff x="0" y="0"/>
          <a:chExt cx="0" cy="0"/>
        </a:xfrm>
      </p:grpSpPr>
      <p:sp>
        <p:nvSpPr>
          <p:cNvPr id="176" name="Google Shape;176;p22"/>
          <p:cNvSpPr/>
          <p:nvPr/>
        </p:nvSpPr>
        <p:spPr>
          <a:xfrm>
            <a:off x="463694" y="564569"/>
            <a:ext cx="3544200" cy="443100"/>
          </a:xfrm>
          <a:prstGeom prst="rect">
            <a:avLst/>
          </a:prstGeom>
          <a:noFill/>
          <a:ln>
            <a:noFill/>
          </a:ln>
        </p:spPr>
        <p:txBody>
          <a:bodyPr anchorCtr="0" anchor="t" bIns="0" lIns="0" spcFirstLastPara="1" rIns="0" wrap="square" tIns="0">
            <a:noAutofit/>
          </a:bodyPr>
          <a:lstStyle/>
          <a:p>
            <a:pPr indent="0" lvl="0" marL="0" marR="0" rtl="0" algn="l">
              <a:lnSpc>
                <a:spcPct val="125454"/>
              </a:lnSpc>
              <a:spcBef>
                <a:spcPts val="0"/>
              </a:spcBef>
              <a:spcAft>
                <a:spcPts val="0"/>
              </a:spcAft>
              <a:buClr>
                <a:srgbClr val="484237"/>
              </a:buClr>
              <a:buSzPts val="2750"/>
              <a:buFont typeface="Gelasio"/>
              <a:buNone/>
            </a:pPr>
            <a:r>
              <a:rPr i="0" lang="en" sz="2750" u="none" cap="none" strike="noStrike">
                <a:solidFill>
                  <a:srgbClr val="746558"/>
                </a:solidFill>
                <a:latin typeface="Gelasio"/>
                <a:ea typeface="Gelasio"/>
                <a:cs typeface="Gelasio"/>
                <a:sym typeface="Gelasio"/>
              </a:rPr>
              <a:t>Conclusion</a:t>
            </a:r>
            <a:endParaRPr i="0" sz="2750" u="none" cap="none" strike="noStrike">
              <a:solidFill>
                <a:srgbClr val="746558"/>
              </a:solidFill>
              <a:latin typeface="Gelasio"/>
              <a:ea typeface="Gelasio"/>
              <a:cs typeface="Gelasio"/>
              <a:sym typeface="Gelasio"/>
            </a:endParaRPr>
          </a:p>
        </p:txBody>
      </p:sp>
      <p:sp>
        <p:nvSpPr>
          <p:cNvPr id="177" name="Google Shape;177;p22"/>
          <p:cNvSpPr/>
          <p:nvPr/>
        </p:nvSpPr>
        <p:spPr>
          <a:xfrm>
            <a:off x="502980" y="1226045"/>
            <a:ext cx="2578500" cy="3017400"/>
          </a:xfrm>
          <a:prstGeom prst="rect">
            <a:avLst/>
          </a:prstGeom>
          <a:solidFill>
            <a:srgbClr val="E8DDD0"/>
          </a:solidFill>
          <a:ln cap="flat" cmpd="sng" w="9525">
            <a:solidFill>
              <a:srgbClr val="D9CC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2"/>
          <p:cNvSpPr/>
          <p:nvPr/>
        </p:nvSpPr>
        <p:spPr>
          <a:xfrm>
            <a:off x="502980" y="1226045"/>
            <a:ext cx="2578500" cy="63900"/>
          </a:xfrm>
          <a:prstGeom prst="rect">
            <a:avLst/>
          </a:prstGeom>
          <a:solidFill>
            <a:srgbClr val="9A7D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9" name="Google Shape;179;p22"/>
          <p:cNvPicPr preferRelativeResize="0"/>
          <p:nvPr/>
        </p:nvPicPr>
        <p:blipFill rotWithShape="1">
          <a:blip r:embed="rId3">
            <a:alphaModFix/>
          </a:blip>
          <a:srcRect b="0" l="0" r="0" t="0"/>
          <a:stretch/>
        </p:blipFill>
        <p:spPr>
          <a:xfrm>
            <a:off x="1581972" y="1573517"/>
            <a:ext cx="420624" cy="420624"/>
          </a:xfrm>
          <a:prstGeom prst="rect">
            <a:avLst/>
          </a:prstGeom>
          <a:noFill/>
          <a:ln>
            <a:noFill/>
          </a:ln>
        </p:spPr>
      </p:pic>
      <p:sp>
        <p:nvSpPr>
          <p:cNvPr id="180" name="Google Shape;180;p22"/>
          <p:cNvSpPr/>
          <p:nvPr/>
        </p:nvSpPr>
        <p:spPr>
          <a:xfrm>
            <a:off x="667572" y="2231885"/>
            <a:ext cx="2249400" cy="475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B2A1A"/>
              </a:buClr>
              <a:buSzPts val="1200"/>
              <a:buFont typeface="Georgia"/>
              <a:buNone/>
            </a:pPr>
            <a:r>
              <a:rPr b="1" lang="en" sz="1150">
                <a:solidFill>
                  <a:srgbClr val="746558"/>
                </a:solidFill>
                <a:latin typeface="Gelasio"/>
                <a:ea typeface="Gelasio"/>
                <a:cs typeface="Gelasio"/>
                <a:sym typeface="Gelasio"/>
              </a:rPr>
              <a:t>Strongest Positive Factors</a:t>
            </a:r>
            <a:endParaRPr i="0" sz="1150" u="none" cap="none" strike="noStrike">
              <a:solidFill>
                <a:srgbClr val="746558"/>
              </a:solidFill>
              <a:latin typeface="Gelasio"/>
              <a:ea typeface="Gelasio"/>
              <a:cs typeface="Gelasio"/>
              <a:sym typeface="Gelasio"/>
            </a:endParaRPr>
          </a:p>
        </p:txBody>
      </p:sp>
      <p:cxnSp>
        <p:nvCxnSpPr>
          <p:cNvPr id="181" name="Google Shape;181;p22"/>
          <p:cNvCxnSpPr/>
          <p:nvPr/>
        </p:nvCxnSpPr>
        <p:spPr>
          <a:xfrm>
            <a:off x="823020" y="2762237"/>
            <a:ext cx="1938600" cy="0"/>
          </a:xfrm>
          <a:prstGeom prst="straightConnector1">
            <a:avLst/>
          </a:prstGeom>
          <a:noFill/>
          <a:ln cap="flat" cmpd="sng" w="9525">
            <a:solidFill>
              <a:srgbClr val="C4B09A"/>
            </a:solidFill>
            <a:prstDash val="solid"/>
            <a:round/>
            <a:headEnd len="sm" w="sm" type="none"/>
            <a:tailEnd len="sm" w="sm" type="none"/>
          </a:ln>
        </p:spPr>
      </p:cxnSp>
      <p:sp>
        <p:nvSpPr>
          <p:cNvPr id="182" name="Google Shape;182;p22"/>
          <p:cNvSpPr/>
          <p:nvPr/>
        </p:nvSpPr>
        <p:spPr>
          <a:xfrm>
            <a:off x="667572" y="2871965"/>
            <a:ext cx="2249400" cy="1371600"/>
          </a:xfrm>
          <a:prstGeom prst="rect">
            <a:avLst/>
          </a:prstGeom>
          <a:noFill/>
          <a:ln>
            <a:noFill/>
          </a:ln>
        </p:spPr>
        <p:txBody>
          <a:bodyPr anchorCtr="0" anchor="t" bIns="45700" lIns="91425" spcFirstLastPara="1" rIns="91425" wrap="square" tIns="45700">
            <a:noAutofit/>
          </a:bodyPr>
          <a:lstStyle/>
          <a:p>
            <a:pPr indent="-295275" lvl="0" marL="457200" marR="0" rtl="0" algn="l">
              <a:lnSpc>
                <a:spcPct val="115000"/>
              </a:lnSpc>
              <a:spcBef>
                <a:spcPts val="0"/>
              </a:spcBef>
              <a:spcAft>
                <a:spcPts val="0"/>
              </a:spcAft>
              <a:buClr>
                <a:srgbClr val="746558"/>
              </a:buClr>
              <a:buSzPts val="1050"/>
              <a:buFont typeface="Gelasio"/>
              <a:buChar char="●"/>
            </a:pPr>
            <a:r>
              <a:rPr lang="en" sz="1050">
                <a:solidFill>
                  <a:srgbClr val="746558"/>
                </a:solidFill>
                <a:latin typeface="Gelasio"/>
                <a:ea typeface="Gelasio"/>
                <a:cs typeface="Gelasio"/>
                <a:sym typeface="Gelasio"/>
              </a:rPr>
              <a:t>Physical Activity Level</a:t>
            </a:r>
            <a:endParaRPr sz="1050">
              <a:solidFill>
                <a:srgbClr val="746558"/>
              </a:solidFill>
              <a:latin typeface="Gelasio"/>
              <a:ea typeface="Gelasio"/>
              <a:cs typeface="Gelasio"/>
              <a:sym typeface="Gelasio"/>
            </a:endParaRPr>
          </a:p>
          <a:p>
            <a:pPr indent="-295275" lvl="0" marL="457200" marR="0" rtl="0" algn="l">
              <a:lnSpc>
                <a:spcPct val="115000"/>
              </a:lnSpc>
              <a:spcBef>
                <a:spcPts val="0"/>
              </a:spcBef>
              <a:spcAft>
                <a:spcPts val="0"/>
              </a:spcAft>
              <a:buClr>
                <a:srgbClr val="746558"/>
              </a:buClr>
              <a:buSzPts val="1050"/>
              <a:buFont typeface="Gelasio"/>
              <a:buChar char="●"/>
            </a:pPr>
            <a:r>
              <a:rPr lang="en" sz="1050">
                <a:solidFill>
                  <a:srgbClr val="746558"/>
                </a:solidFill>
                <a:latin typeface="Gelasio"/>
                <a:ea typeface="Gelasio"/>
                <a:cs typeface="Gelasio"/>
                <a:sym typeface="Gelasio"/>
              </a:rPr>
              <a:t>Age</a:t>
            </a:r>
            <a:endParaRPr sz="1050">
              <a:solidFill>
                <a:srgbClr val="746558"/>
              </a:solidFill>
              <a:latin typeface="Gelasio"/>
              <a:ea typeface="Gelasio"/>
              <a:cs typeface="Gelasio"/>
              <a:sym typeface="Gelasio"/>
            </a:endParaRPr>
          </a:p>
        </p:txBody>
      </p:sp>
      <p:sp>
        <p:nvSpPr>
          <p:cNvPr id="183" name="Google Shape;183;p22"/>
          <p:cNvSpPr/>
          <p:nvPr/>
        </p:nvSpPr>
        <p:spPr>
          <a:xfrm>
            <a:off x="3282756" y="1226045"/>
            <a:ext cx="2578500" cy="3017400"/>
          </a:xfrm>
          <a:prstGeom prst="rect">
            <a:avLst/>
          </a:prstGeom>
          <a:solidFill>
            <a:srgbClr val="E8DDD0"/>
          </a:solidFill>
          <a:ln cap="flat" cmpd="sng" w="9525">
            <a:solidFill>
              <a:srgbClr val="D9CC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2"/>
          <p:cNvSpPr/>
          <p:nvPr/>
        </p:nvSpPr>
        <p:spPr>
          <a:xfrm>
            <a:off x="3282756" y="1226045"/>
            <a:ext cx="2578500" cy="63900"/>
          </a:xfrm>
          <a:prstGeom prst="rect">
            <a:avLst/>
          </a:prstGeom>
          <a:solidFill>
            <a:srgbClr val="9A7D65"/>
          </a:solidFill>
          <a:ln cap="flat" cmpd="sng" w="12700">
            <a:solidFill>
              <a:srgbClr val="7A5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5" name="Google Shape;185;p22"/>
          <p:cNvPicPr preferRelativeResize="0"/>
          <p:nvPr/>
        </p:nvPicPr>
        <p:blipFill rotWithShape="1">
          <a:blip r:embed="rId4">
            <a:alphaModFix/>
          </a:blip>
          <a:srcRect b="0" l="0" r="0" t="0"/>
          <a:stretch/>
        </p:blipFill>
        <p:spPr>
          <a:xfrm>
            <a:off x="4361748" y="1573517"/>
            <a:ext cx="420624" cy="420624"/>
          </a:xfrm>
          <a:prstGeom prst="rect">
            <a:avLst/>
          </a:prstGeom>
          <a:noFill/>
          <a:ln>
            <a:noFill/>
          </a:ln>
        </p:spPr>
      </p:pic>
      <p:sp>
        <p:nvSpPr>
          <p:cNvPr id="186" name="Google Shape;186;p22"/>
          <p:cNvSpPr/>
          <p:nvPr/>
        </p:nvSpPr>
        <p:spPr>
          <a:xfrm>
            <a:off x="3447348" y="2231885"/>
            <a:ext cx="2249400" cy="475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B2A1A"/>
              </a:buClr>
              <a:buSzPts val="1200"/>
              <a:buFont typeface="Georgia"/>
              <a:buNone/>
            </a:pPr>
            <a:r>
              <a:rPr b="1" lang="en" sz="1150">
                <a:solidFill>
                  <a:srgbClr val="746558"/>
                </a:solidFill>
                <a:latin typeface="Gelasio"/>
                <a:ea typeface="Gelasio"/>
                <a:cs typeface="Gelasio"/>
                <a:sym typeface="Gelasio"/>
              </a:rPr>
              <a:t>Strongest Negative Factors</a:t>
            </a:r>
            <a:endParaRPr i="0" sz="1150" u="none" cap="none" strike="noStrike">
              <a:solidFill>
                <a:srgbClr val="746558"/>
              </a:solidFill>
              <a:latin typeface="Gelasio"/>
              <a:ea typeface="Gelasio"/>
              <a:cs typeface="Gelasio"/>
              <a:sym typeface="Gelasio"/>
            </a:endParaRPr>
          </a:p>
        </p:txBody>
      </p:sp>
      <p:cxnSp>
        <p:nvCxnSpPr>
          <p:cNvPr id="187" name="Google Shape;187;p22"/>
          <p:cNvCxnSpPr/>
          <p:nvPr/>
        </p:nvCxnSpPr>
        <p:spPr>
          <a:xfrm>
            <a:off x="3602796" y="2762237"/>
            <a:ext cx="1938600" cy="0"/>
          </a:xfrm>
          <a:prstGeom prst="straightConnector1">
            <a:avLst/>
          </a:prstGeom>
          <a:noFill/>
          <a:ln cap="flat" cmpd="sng" w="9525">
            <a:solidFill>
              <a:srgbClr val="C4B09A"/>
            </a:solidFill>
            <a:prstDash val="solid"/>
            <a:round/>
            <a:headEnd len="sm" w="sm" type="none"/>
            <a:tailEnd len="sm" w="sm" type="none"/>
          </a:ln>
        </p:spPr>
      </p:cxnSp>
      <p:sp>
        <p:nvSpPr>
          <p:cNvPr id="188" name="Google Shape;188;p22"/>
          <p:cNvSpPr/>
          <p:nvPr/>
        </p:nvSpPr>
        <p:spPr>
          <a:xfrm>
            <a:off x="3447348" y="2871965"/>
            <a:ext cx="2249400" cy="1371600"/>
          </a:xfrm>
          <a:prstGeom prst="rect">
            <a:avLst/>
          </a:prstGeom>
          <a:noFill/>
          <a:ln>
            <a:noFill/>
          </a:ln>
        </p:spPr>
        <p:txBody>
          <a:bodyPr anchorCtr="0" anchor="t" bIns="45700" lIns="91425" spcFirstLastPara="1" rIns="91425" wrap="square" tIns="45700">
            <a:noAutofit/>
          </a:bodyPr>
          <a:lstStyle/>
          <a:p>
            <a:pPr indent="-295275" lvl="0" marL="457200" marR="0" rtl="0" algn="l">
              <a:spcBef>
                <a:spcPts val="0"/>
              </a:spcBef>
              <a:spcAft>
                <a:spcPts val="0"/>
              </a:spcAft>
              <a:buClr>
                <a:srgbClr val="746558"/>
              </a:buClr>
              <a:buSzPts val="1050"/>
              <a:buFont typeface="Gelasio"/>
              <a:buChar char="●"/>
            </a:pPr>
            <a:r>
              <a:rPr lang="en" sz="1050">
                <a:solidFill>
                  <a:srgbClr val="746558"/>
                </a:solidFill>
                <a:latin typeface="Gelasio"/>
                <a:ea typeface="Gelasio"/>
                <a:cs typeface="Gelasio"/>
                <a:sym typeface="Gelasio"/>
              </a:rPr>
              <a:t>Stress Level</a:t>
            </a:r>
            <a:endParaRPr sz="1050">
              <a:solidFill>
                <a:srgbClr val="746558"/>
              </a:solidFill>
              <a:latin typeface="Gelasio"/>
              <a:ea typeface="Gelasio"/>
              <a:cs typeface="Gelasio"/>
              <a:sym typeface="Gelasio"/>
            </a:endParaRPr>
          </a:p>
          <a:p>
            <a:pPr indent="-295275" lvl="0" marL="457200" marR="0" rtl="0" algn="l">
              <a:spcBef>
                <a:spcPts val="0"/>
              </a:spcBef>
              <a:spcAft>
                <a:spcPts val="0"/>
              </a:spcAft>
              <a:buClr>
                <a:srgbClr val="746558"/>
              </a:buClr>
              <a:buSzPts val="1050"/>
              <a:buFont typeface="Gelasio"/>
              <a:buChar char="●"/>
            </a:pPr>
            <a:r>
              <a:rPr lang="en" sz="1050">
                <a:solidFill>
                  <a:srgbClr val="746558"/>
                </a:solidFill>
                <a:latin typeface="Gelasio"/>
                <a:ea typeface="Gelasio"/>
                <a:cs typeface="Gelasio"/>
                <a:sym typeface="Gelasio"/>
              </a:rPr>
              <a:t>BMI (Overweight)</a:t>
            </a:r>
            <a:endParaRPr sz="1050">
              <a:solidFill>
                <a:srgbClr val="746558"/>
              </a:solidFill>
              <a:latin typeface="Gelasio"/>
              <a:ea typeface="Gelasio"/>
              <a:cs typeface="Gelasio"/>
              <a:sym typeface="Gelasio"/>
            </a:endParaRPr>
          </a:p>
        </p:txBody>
      </p:sp>
      <p:sp>
        <p:nvSpPr>
          <p:cNvPr id="189" name="Google Shape;189;p22"/>
          <p:cNvSpPr/>
          <p:nvPr/>
        </p:nvSpPr>
        <p:spPr>
          <a:xfrm>
            <a:off x="6062532" y="1226045"/>
            <a:ext cx="2578500" cy="3017400"/>
          </a:xfrm>
          <a:prstGeom prst="rect">
            <a:avLst/>
          </a:prstGeom>
          <a:solidFill>
            <a:srgbClr val="E8DDD0"/>
          </a:solidFill>
          <a:ln cap="flat" cmpd="sng" w="9525">
            <a:solidFill>
              <a:srgbClr val="D9CC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2"/>
          <p:cNvSpPr/>
          <p:nvPr/>
        </p:nvSpPr>
        <p:spPr>
          <a:xfrm>
            <a:off x="6062532" y="1226045"/>
            <a:ext cx="2578500" cy="63900"/>
          </a:xfrm>
          <a:prstGeom prst="rect">
            <a:avLst/>
          </a:prstGeom>
          <a:solidFill>
            <a:srgbClr val="9A7D65"/>
          </a:solidFill>
          <a:ln cap="flat" cmpd="sng" w="12700">
            <a:solidFill>
              <a:srgbClr val="7A5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1" name="Google Shape;191;p22"/>
          <p:cNvPicPr preferRelativeResize="0"/>
          <p:nvPr/>
        </p:nvPicPr>
        <p:blipFill rotWithShape="1">
          <a:blip r:embed="rId5">
            <a:alphaModFix/>
          </a:blip>
          <a:srcRect b="0" l="0" r="0" t="0"/>
          <a:stretch/>
        </p:blipFill>
        <p:spPr>
          <a:xfrm>
            <a:off x="7141524" y="1573517"/>
            <a:ext cx="420624" cy="420624"/>
          </a:xfrm>
          <a:prstGeom prst="rect">
            <a:avLst/>
          </a:prstGeom>
          <a:noFill/>
          <a:ln>
            <a:noFill/>
          </a:ln>
        </p:spPr>
      </p:pic>
      <p:sp>
        <p:nvSpPr>
          <p:cNvPr id="192" name="Google Shape;192;p22"/>
          <p:cNvSpPr/>
          <p:nvPr/>
        </p:nvSpPr>
        <p:spPr>
          <a:xfrm>
            <a:off x="6227124" y="2231885"/>
            <a:ext cx="2249400" cy="475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B2A1A"/>
              </a:buClr>
              <a:buSzPts val="1200"/>
              <a:buFont typeface="Georgia"/>
              <a:buNone/>
            </a:pPr>
            <a:r>
              <a:rPr b="1" lang="en" sz="1200">
                <a:solidFill>
                  <a:srgbClr val="746558"/>
                </a:solidFill>
                <a:latin typeface="Gelasio"/>
                <a:ea typeface="Gelasio"/>
                <a:cs typeface="Gelasio"/>
                <a:sym typeface="Gelasio"/>
              </a:rPr>
              <a:t>Weakest Factors</a:t>
            </a:r>
            <a:endParaRPr i="0" sz="1200" u="none" cap="none" strike="noStrike">
              <a:solidFill>
                <a:srgbClr val="746558"/>
              </a:solidFill>
              <a:latin typeface="Gelasio"/>
              <a:ea typeface="Gelasio"/>
              <a:cs typeface="Gelasio"/>
              <a:sym typeface="Gelasio"/>
            </a:endParaRPr>
          </a:p>
        </p:txBody>
      </p:sp>
      <p:cxnSp>
        <p:nvCxnSpPr>
          <p:cNvPr id="193" name="Google Shape;193;p22"/>
          <p:cNvCxnSpPr/>
          <p:nvPr/>
        </p:nvCxnSpPr>
        <p:spPr>
          <a:xfrm>
            <a:off x="6382572" y="2762237"/>
            <a:ext cx="1938600" cy="0"/>
          </a:xfrm>
          <a:prstGeom prst="straightConnector1">
            <a:avLst/>
          </a:prstGeom>
          <a:noFill/>
          <a:ln cap="flat" cmpd="sng" w="9525">
            <a:solidFill>
              <a:srgbClr val="C4B09A"/>
            </a:solidFill>
            <a:prstDash val="solid"/>
            <a:round/>
            <a:headEnd len="sm" w="sm" type="none"/>
            <a:tailEnd len="sm" w="sm" type="none"/>
          </a:ln>
        </p:spPr>
      </p:cxnSp>
      <p:sp>
        <p:nvSpPr>
          <p:cNvPr id="194" name="Google Shape;194;p22"/>
          <p:cNvSpPr/>
          <p:nvPr/>
        </p:nvSpPr>
        <p:spPr>
          <a:xfrm>
            <a:off x="6227124" y="2871965"/>
            <a:ext cx="2249400" cy="1371600"/>
          </a:xfrm>
          <a:prstGeom prst="rect">
            <a:avLst/>
          </a:prstGeom>
          <a:noFill/>
          <a:ln>
            <a:noFill/>
          </a:ln>
        </p:spPr>
        <p:txBody>
          <a:bodyPr anchorCtr="0" anchor="t" bIns="45700" lIns="91425" spcFirstLastPara="1" rIns="91425" wrap="square" tIns="45700">
            <a:noAutofit/>
          </a:bodyPr>
          <a:lstStyle/>
          <a:p>
            <a:pPr indent="-295275" lvl="0" marL="457200" marR="0" rtl="0" algn="l">
              <a:spcBef>
                <a:spcPts val="0"/>
              </a:spcBef>
              <a:spcAft>
                <a:spcPts val="0"/>
              </a:spcAft>
              <a:buClr>
                <a:srgbClr val="746558"/>
              </a:buClr>
              <a:buSzPts val="1050"/>
              <a:buFont typeface="Gelasio"/>
              <a:buChar char="●"/>
            </a:pPr>
            <a:r>
              <a:rPr lang="en" sz="1050">
                <a:solidFill>
                  <a:srgbClr val="746558"/>
                </a:solidFill>
                <a:latin typeface="Gelasio"/>
                <a:ea typeface="Gelasio"/>
                <a:cs typeface="Gelasio"/>
                <a:sym typeface="Gelasio"/>
              </a:rPr>
              <a:t>Sleep disorder</a:t>
            </a:r>
            <a:endParaRPr sz="1050">
              <a:solidFill>
                <a:srgbClr val="746558"/>
              </a:solidFill>
              <a:latin typeface="Gelasio"/>
              <a:ea typeface="Gelasio"/>
              <a:cs typeface="Gelasio"/>
              <a:sym typeface="Gelasio"/>
            </a:endParaRPr>
          </a:p>
          <a:p>
            <a:pPr indent="-295275" lvl="0" marL="457200" marR="0" rtl="0" algn="l">
              <a:spcBef>
                <a:spcPts val="0"/>
              </a:spcBef>
              <a:spcAft>
                <a:spcPts val="0"/>
              </a:spcAft>
              <a:buClr>
                <a:srgbClr val="746558"/>
              </a:buClr>
              <a:buSzPts val="1050"/>
              <a:buFont typeface="Gelasio"/>
              <a:buChar char="●"/>
            </a:pPr>
            <a:r>
              <a:rPr lang="en" sz="1050">
                <a:solidFill>
                  <a:srgbClr val="746558"/>
                </a:solidFill>
                <a:latin typeface="Gelasio"/>
                <a:ea typeface="Gelasio"/>
                <a:cs typeface="Gelasio"/>
                <a:sym typeface="Gelasio"/>
              </a:rPr>
              <a:t>Heart Rate</a:t>
            </a:r>
            <a:endParaRPr sz="1050">
              <a:solidFill>
                <a:srgbClr val="746558"/>
              </a:solidFill>
              <a:latin typeface="Gelasio"/>
              <a:ea typeface="Gelasio"/>
              <a:cs typeface="Gelasio"/>
              <a:sym typeface="Gelasio"/>
            </a:endParaRPr>
          </a:p>
        </p:txBody>
      </p:sp>
      <p:sp>
        <p:nvSpPr>
          <p:cNvPr id="195" name="Google Shape;195;p22"/>
          <p:cNvSpPr txBox="1"/>
          <p:nvPr/>
        </p:nvSpPr>
        <p:spPr>
          <a:xfrm>
            <a:off x="502975" y="4408175"/>
            <a:ext cx="7200900" cy="40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rgbClr val="746558"/>
                </a:solidFill>
                <a:latin typeface="Gelasio"/>
                <a:ea typeface="Gelasio"/>
                <a:cs typeface="Gelasio"/>
                <a:sym typeface="Gelasio"/>
              </a:rPr>
              <a:t>Overall, stress level and physical activity were the most influential predictors of sleep duration across both models.</a:t>
            </a:r>
            <a:endParaRPr sz="1050">
              <a:solidFill>
                <a:srgbClr val="746558"/>
              </a:solidFill>
              <a:latin typeface="Gelasio"/>
              <a:ea typeface="Gelasio"/>
              <a:cs typeface="Gelasio"/>
              <a:sym typeface="Gelasi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0"/>
        </a:solidFill>
      </p:bgPr>
    </p:bg>
    <p:spTree>
      <p:nvGrpSpPr>
        <p:cNvPr id="199" name="Shape 199"/>
        <p:cNvGrpSpPr/>
        <p:nvPr/>
      </p:nvGrpSpPr>
      <p:grpSpPr>
        <a:xfrm>
          <a:off x="0" y="0"/>
          <a:ext cx="0" cy="0"/>
          <a:chOff x="0" y="0"/>
          <a:chExt cx="0" cy="0"/>
        </a:xfrm>
      </p:grpSpPr>
      <p:sp>
        <p:nvSpPr>
          <p:cNvPr id="200" name="Google Shape;200;p23"/>
          <p:cNvSpPr/>
          <p:nvPr/>
        </p:nvSpPr>
        <p:spPr>
          <a:xfrm>
            <a:off x="496119" y="644613"/>
            <a:ext cx="3544200" cy="443100"/>
          </a:xfrm>
          <a:prstGeom prst="rect">
            <a:avLst/>
          </a:prstGeom>
          <a:noFill/>
          <a:ln>
            <a:noFill/>
          </a:ln>
        </p:spPr>
        <p:txBody>
          <a:bodyPr anchorCtr="0" anchor="t" bIns="0" lIns="0" spcFirstLastPara="1" rIns="0" wrap="square" tIns="0">
            <a:noAutofit/>
          </a:bodyPr>
          <a:lstStyle/>
          <a:p>
            <a:pPr indent="0" lvl="0" marL="0" marR="0" rtl="0" algn="l">
              <a:lnSpc>
                <a:spcPct val="125454"/>
              </a:lnSpc>
              <a:spcBef>
                <a:spcPts val="0"/>
              </a:spcBef>
              <a:spcAft>
                <a:spcPts val="0"/>
              </a:spcAft>
              <a:buClr>
                <a:srgbClr val="484237"/>
              </a:buClr>
              <a:buSzPts val="2750"/>
              <a:buFont typeface="Gelasio"/>
              <a:buNone/>
            </a:pPr>
            <a:r>
              <a:rPr i="0" lang="en" sz="2750" u="none" cap="none" strike="noStrike">
                <a:solidFill>
                  <a:srgbClr val="746558"/>
                </a:solidFill>
                <a:latin typeface="Gelasio"/>
                <a:ea typeface="Gelasio"/>
                <a:cs typeface="Gelasio"/>
                <a:sym typeface="Gelasio"/>
              </a:rPr>
              <a:t>Future Work</a:t>
            </a:r>
            <a:endParaRPr i="0" sz="2750" u="none" cap="none" strike="noStrike">
              <a:solidFill>
                <a:srgbClr val="746558"/>
              </a:solidFill>
              <a:latin typeface="Gelasio"/>
              <a:ea typeface="Gelasio"/>
              <a:cs typeface="Gelasio"/>
              <a:sym typeface="Gelasio"/>
            </a:endParaRPr>
          </a:p>
        </p:txBody>
      </p:sp>
      <p:sp>
        <p:nvSpPr>
          <p:cNvPr id="201" name="Google Shape;201;p23"/>
          <p:cNvSpPr/>
          <p:nvPr/>
        </p:nvSpPr>
        <p:spPr>
          <a:xfrm>
            <a:off x="525830" y="1651165"/>
            <a:ext cx="2578500" cy="2651700"/>
          </a:xfrm>
          <a:prstGeom prst="rect">
            <a:avLst/>
          </a:prstGeom>
          <a:solidFill>
            <a:srgbClr val="E8DDD0"/>
          </a:solidFill>
          <a:ln cap="flat" cmpd="sng" w="9525">
            <a:solidFill>
              <a:srgbClr val="D9CC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3"/>
          <p:cNvSpPr/>
          <p:nvPr/>
        </p:nvSpPr>
        <p:spPr>
          <a:xfrm>
            <a:off x="690422" y="1834045"/>
            <a:ext cx="384000" cy="384000"/>
          </a:xfrm>
          <a:prstGeom prst="ellipse">
            <a:avLst/>
          </a:prstGeom>
          <a:solidFill>
            <a:srgbClr val="7A5C3A"/>
          </a:solidFill>
          <a:ln cap="flat" cmpd="sng" w="12700">
            <a:solidFill>
              <a:srgbClr val="7A5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3"/>
          <p:cNvSpPr/>
          <p:nvPr/>
        </p:nvSpPr>
        <p:spPr>
          <a:xfrm>
            <a:off x="690422" y="1834045"/>
            <a:ext cx="384000" cy="384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EDE4"/>
              </a:buClr>
              <a:buSzPts val="1400"/>
              <a:buFont typeface="Georgia"/>
              <a:buNone/>
            </a:pPr>
            <a:r>
              <a:rPr b="1" i="0" lang="en" sz="1400" u="none" cap="none" strike="noStrike">
                <a:solidFill>
                  <a:srgbClr val="F2EDE4"/>
                </a:solidFill>
                <a:latin typeface="Georgia"/>
                <a:ea typeface="Georgia"/>
                <a:cs typeface="Georgia"/>
                <a:sym typeface="Georgia"/>
              </a:rPr>
              <a:t>1</a:t>
            </a:r>
            <a:endParaRPr b="0" i="0" sz="1400" u="none" cap="none" strike="noStrike">
              <a:solidFill>
                <a:schemeClr val="dk1"/>
              </a:solidFill>
              <a:latin typeface="Calibri"/>
              <a:ea typeface="Calibri"/>
              <a:cs typeface="Calibri"/>
              <a:sym typeface="Calibri"/>
            </a:endParaRPr>
          </a:p>
        </p:txBody>
      </p:sp>
      <p:pic>
        <p:nvPicPr>
          <p:cNvPr descr="preencoded.png" id="204" name="Google Shape;204;p23"/>
          <p:cNvPicPr preferRelativeResize="0"/>
          <p:nvPr/>
        </p:nvPicPr>
        <p:blipFill rotWithShape="1">
          <a:blip r:embed="rId3">
            <a:alphaModFix/>
          </a:blip>
          <a:srcRect b="0" l="0" r="0" t="0"/>
          <a:stretch/>
        </p:blipFill>
        <p:spPr>
          <a:xfrm>
            <a:off x="2574086" y="1815757"/>
            <a:ext cx="329184" cy="329184"/>
          </a:xfrm>
          <a:prstGeom prst="rect">
            <a:avLst/>
          </a:prstGeom>
          <a:noFill/>
          <a:ln>
            <a:noFill/>
          </a:ln>
        </p:spPr>
      </p:pic>
      <p:sp>
        <p:nvSpPr>
          <p:cNvPr id="205" name="Google Shape;205;p23"/>
          <p:cNvSpPr/>
          <p:nvPr/>
        </p:nvSpPr>
        <p:spPr>
          <a:xfrm>
            <a:off x="690422" y="2309533"/>
            <a:ext cx="22494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B2A1A"/>
              </a:buClr>
              <a:buSzPts val="1250"/>
              <a:buFont typeface="Georgia"/>
              <a:buNone/>
            </a:pPr>
            <a:r>
              <a:rPr b="1" lang="en" sz="1250">
                <a:solidFill>
                  <a:srgbClr val="746558"/>
                </a:solidFill>
                <a:latin typeface="Gelasio"/>
                <a:ea typeface="Gelasio"/>
                <a:cs typeface="Gelasio"/>
                <a:sym typeface="Gelasio"/>
              </a:rPr>
              <a:t>Larger Dataset</a:t>
            </a:r>
            <a:endParaRPr i="0" sz="1250" u="none" cap="none" strike="noStrike">
              <a:solidFill>
                <a:srgbClr val="746558"/>
              </a:solidFill>
              <a:latin typeface="Gelasio"/>
              <a:ea typeface="Gelasio"/>
              <a:cs typeface="Gelasio"/>
              <a:sym typeface="Gelasio"/>
            </a:endParaRPr>
          </a:p>
        </p:txBody>
      </p:sp>
      <p:cxnSp>
        <p:nvCxnSpPr>
          <p:cNvPr id="206" name="Google Shape;206;p23"/>
          <p:cNvCxnSpPr/>
          <p:nvPr/>
        </p:nvCxnSpPr>
        <p:spPr>
          <a:xfrm>
            <a:off x="690422" y="2748445"/>
            <a:ext cx="2249400" cy="0"/>
          </a:xfrm>
          <a:prstGeom prst="straightConnector1">
            <a:avLst/>
          </a:prstGeom>
          <a:noFill/>
          <a:ln cap="flat" cmpd="sng" w="9525">
            <a:solidFill>
              <a:srgbClr val="C4B09A"/>
            </a:solidFill>
            <a:prstDash val="solid"/>
            <a:round/>
            <a:headEnd len="sm" w="sm" type="none"/>
            <a:tailEnd len="sm" w="sm" type="none"/>
          </a:ln>
        </p:spPr>
      </p:cxnSp>
      <p:sp>
        <p:nvSpPr>
          <p:cNvPr id="207" name="Google Shape;207;p23"/>
          <p:cNvSpPr/>
          <p:nvPr/>
        </p:nvSpPr>
        <p:spPr>
          <a:xfrm>
            <a:off x="690422" y="2858173"/>
            <a:ext cx="2249400" cy="128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4A35"/>
              </a:buClr>
              <a:buSzPts val="1050"/>
              <a:buFont typeface="Calibri"/>
              <a:buNone/>
            </a:pPr>
            <a:r>
              <a:rPr lang="en" sz="1050">
                <a:solidFill>
                  <a:srgbClr val="746558"/>
                </a:solidFill>
                <a:latin typeface="Gelasio"/>
                <a:ea typeface="Gelasio"/>
                <a:cs typeface="Gelasio"/>
                <a:sym typeface="Gelasio"/>
              </a:rPr>
              <a:t>Using a larger and more diverse dataset could improve the model’s </a:t>
            </a:r>
            <a:r>
              <a:rPr lang="en" sz="1050">
                <a:solidFill>
                  <a:srgbClr val="746558"/>
                </a:solidFill>
                <a:latin typeface="Gelasio"/>
                <a:ea typeface="Gelasio"/>
                <a:cs typeface="Gelasio"/>
                <a:sym typeface="Gelasio"/>
              </a:rPr>
              <a:t>reliability</a:t>
            </a:r>
            <a:r>
              <a:rPr lang="en" sz="1050">
                <a:solidFill>
                  <a:srgbClr val="746558"/>
                </a:solidFill>
                <a:latin typeface="Gelasio"/>
                <a:ea typeface="Gelasio"/>
                <a:cs typeface="Gelasio"/>
                <a:sym typeface="Gelasio"/>
              </a:rPr>
              <a:t> and generalizability.</a:t>
            </a:r>
            <a:endParaRPr i="0" sz="1050" u="none" cap="none" strike="noStrike">
              <a:solidFill>
                <a:srgbClr val="746558"/>
              </a:solidFill>
              <a:latin typeface="Gelasio"/>
              <a:ea typeface="Gelasio"/>
              <a:cs typeface="Gelasio"/>
              <a:sym typeface="Gelasio"/>
            </a:endParaRPr>
          </a:p>
        </p:txBody>
      </p:sp>
      <p:pic>
        <p:nvPicPr>
          <p:cNvPr descr="preencoded.png" id="208" name="Google Shape;208;p23"/>
          <p:cNvPicPr preferRelativeResize="0"/>
          <p:nvPr/>
        </p:nvPicPr>
        <p:blipFill rotWithShape="1">
          <a:blip r:embed="rId4">
            <a:alphaModFix/>
          </a:blip>
          <a:srcRect b="0" l="0" r="0" t="0"/>
          <a:stretch/>
        </p:blipFill>
        <p:spPr>
          <a:xfrm>
            <a:off x="3141014" y="2812453"/>
            <a:ext cx="128016" cy="128016"/>
          </a:xfrm>
          <a:prstGeom prst="rect">
            <a:avLst/>
          </a:prstGeom>
          <a:noFill/>
          <a:ln>
            <a:noFill/>
          </a:ln>
        </p:spPr>
      </p:pic>
      <p:sp>
        <p:nvSpPr>
          <p:cNvPr id="209" name="Google Shape;209;p23"/>
          <p:cNvSpPr/>
          <p:nvPr/>
        </p:nvSpPr>
        <p:spPr>
          <a:xfrm>
            <a:off x="3305606" y="1651165"/>
            <a:ext cx="2578500" cy="2651700"/>
          </a:xfrm>
          <a:prstGeom prst="rect">
            <a:avLst/>
          </a:prstGeom>
          <a:solidFill>
            <a:srgbClr val="E8DDD0"/>
          </a:solidFill>
          <a:ln cap="flat" cmpd="sng" w="9525">
            <a:solidFill>
              <a:srgbClr val="D9CC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3"/>
          <p:cNvSpPr/>
          <p:nvPr/>
        </p:nvSpPr>
        <p:spPr>
          <a:xfrm>
            <a:off x="3470198" y="1834045"/>
            <a:ext cx="384000" cy="384000"/>
          </a:xfrm>
          <a:prstGeom prst="ellipse">
            <a:avLst/>
          </a:prstGeom>
          <a:solidFill>
            <a:srgbClr val="7A5C3A"/>
          </a:solidFill>
          <a:ln cap="flat" cmpd="sng" w="12700">
            <a:solidFill>
              <a:srgbClr val="7A5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3"/>
          <p:cNvSpPr/>
          <p:nvPr/>
        </p:nvSpPr>
        <p:spPr>
          <a:xfrm>
            <a:off x="3470198" y="1834045"/>
            <a:ext cx="384000" cy="384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EDE4"/>
              </a:buClr>
              <a:buSzPts val="1400"/>
              <a:buFont typeface="Georgia"/>
              <a:buNone/>
            </a:pPr>
            <a:r>
              <a:rPr b="1" i="0" lang="en" sz="1400" u="none" cap="none" strike="noStrike">
                <a:solidFill>
                  <a:srgbClr val="F2EDE4"/>
                </a:solidFill>
                <a:latin typeface="Georgia"/>
                <a:ea typeface="Georgia"/>
                <a:cs typeface="Georgia"/>
                <a:sym typeface="Georgia"/>
              </a:rPr>
              <a:t>2</a:t>
            </a:r>
            <a:endParaRPr b="0" i="0" sz="1400" u="none" cap="none" strike="noStrike">
              <a:solidFill>
                <a:schemeClr val="dk1"/>
              </a:solidFill>
              <a:latin typeface="Calibri"/>
              <a:ea typeface="Calibri"/>
              <a:cs typeface="Calibri"/>
              <a:sym typeface="Calibri"/>
            </a:endParaRPr>
          </a:p>
        </p:txBody>
      </p:sp>
      <p:pic>
        <p:nvPicPr>
          <p:cNvPr descr="preencoded.png" id="212" name="Google Shape;212;p23"/>
          <p:cNvPicPr preferRelativeResize="0"/>
          <p:nvPr/>
        </p:nvPicPr>
        <p:blipFill rotWithShape="1">
          <a:blip r:embed="rId5">
            <a:alphaModFix/>
          </a:blip>
          <a:srcRect b="0" l="0" r="0" t="0"/>
          <a:stretch/>
        </p:blipFill>
        <p:spPr>
          <a:xfrm>
            <a:off x="5353862" y="1815757"/>
            <a:ext cx="329184" cy="329184"/>
          </a:xfrm>
          <a:prstGeom prst="rect">
            <a:avLst/>
          </a:prstGeom>
          <a:noFill/>
          <a:ln>
            <a:noFill/>
          </a:ln>
        </p:spPr>
      </p:pic>
      <p:sp>
        <p:nvSpPr>
          <p:cNvPr id="213" name="Google Shape;213;p23"/>
          <p:cNvSpPr/>
          <p:nvPr/>
        </p:nvSpPr>
        <p:spPr>
          <a:xfrm>
            <a:off x="3470198" y="2309533"/>
            <a:ext cx="22494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B2A1A"/>
              </a:buClr>
              <a:buSzPts val="1250"/>
              <a:buFont typeface="Georgia"/>
              <a:buNone/>
            </a:pPr>
            <a:r>
              <a:rPr b="1" lang="en" sz="1250">
                <a:solidFill>
                  <a:srgbClr val="746558"/>
                </a:solidFill>
                <a:latin typeface="Gelasio"/>
                <a:ea typeface="Gelasio"/>
                <a:cs typeface="Gelasio"/>
                <a:sym typeface="Gelasio"/>
              </a:rPr>
              <a:t>Additional Variables</a:t>
            </a:r>
            <a:endParaRPr i="0" sz="1250" u="none" cap="none" strike="noStrike">
              <a:solidFill>
                <a:srgbClr val="746558"/>
              </a:solidFill>
              <a:latin typeface="Gelasio"/>
              <a:ea typeface="Gelasio"/>
              <a:cs typeface="Gelasio"/>
              <a:sym typeface="Gelasio"/>
            </a:endParaRPr>
          </a:p>
        </p:txBody>
      </p:sp>
      <p:cxnSp>
        <p:nvCxnSpPr>
          <p:cNvPr id="214" name="Google Shape;214;p23"/>
          <p:cNvCxnSpPr/>
          <p:nvPr/>
        </p:nvCxnSpPr>
        <p:spPr>
          <a:xfrm>
            <a:off x="3470198" y="2748445"/>
            <a:ext cx="2249400" cy="0"/>
          </a:xfrm>
          <a:prstGeom prst="straightConnector1">
            <a:avLst/>
          </a:prstGeom>
          <a:noFill/>
          <a:ln cap="flat" cmpd="sng" w="9525">
            <a:solidFill>
              <a:srgbClr val="C4B09A"/>
            </a:solidFill>
            <a:prstDash val="solid"/>
            <a:round/>
            <a:headEnd len="sm" w="sm" type="none"/>
            <a:tailEnd len="sm" w="sm" type="none"/>
          </a:ln>
        </p:spPr>
      </p:cxnSp>
      <p:sp>
        <p:nvSpPr>
          <p:cNvPr id="215" name="Google Shape;215;p23"/>
          <p:cNvSpPr/>
          <p:nvPr/>
        </p:nvSpPr>
        <p:spPr>
          <a:xfrm>
            <a:off x="3470198" y="2858173"/>
            <a:ext cx="2249400" cy="128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4A35"/>
              </a:buClr>
              <a:buSzPts val="1050"/>
              <a:buFont typeface="Calibri"/>
              <a:buNone/>
            </a:pPr>
            <a:r>
              <a:rPr lang="en" sz="1050">
                <a:solidFill>
                  <a:srgbClr val="746558"/>
                </a:solidFill>
                <a:latin typeface="Gelasio"/>
                <a:ea typeface="Gelasio"/>
                <a:cs typeface="Gelasio"/>
                <a:sym typeface="Gelasio"/>
              </a:rPr>
              <a:t>Incorporate additional variables that may influence sleep, such as lifestyle habits and living conditions, to better understand their impact.</a:t>
            </a:r>
            <a:endParaRPr i="0" sz="1050" u="none" cap="none" strike="noStrike">
              <a:solidFill>
                <a:srgbClr val="746558"/>
              </a:solidFill>
              <a:latin typeface="Gelasio"/>
              <a:ea typeface="Gelasio"/>
              <a:cs typeface="Gelasio"/>
              <a:sym typeface="Gelasio"/>
            </a:endParaRPr>
          </a:p>
        </p:txBody>
      </p:sp>
      <p:pic>
        <p:nvPicPr>
          <p:cNvPr descr="preencoded.png" id="216" name="Google Shape;216;p23"/>
          <p:cNvPicPr preferRelativeResize="0"/>
          <p:nvPr/>
        </p:nvPicPr>
        <p:blipFill rotWithShape="1">
          <a:blip r:embed="rId4">
            <a:alphaModFix/>
          </a:blip>
          <a:srcRect b="0" l="0" r="0" t="0"/>
          <a:stretch/>
        </p:blipFill>
        <p:spPr>
          <a:xfrm>
            <a:off x="5920790" y="2812453"/>
            <a:ext cx="128016" cy="128016"/>
          </a:xfrm>
          <a:prstGeom prst="rect">
            <a:avLst/>
          </a:prstGeom>
          <a:noFill/>
          <a:ln>
            <a:noFill/>
          </a:ln>
        </p:spPr>
      </p:pic>
      <p:sp>
        <p:nvSpPr>
          <p:cNvPr id="217" name="Google Shape;217;p23"/>
          <p:cNvSpPr/>
          <p:nvPr/>
        </p:nvSpPr>
        <p:spPr>
          <a:xfrm>
            <a:off x="6085382" y="1651165"/>
            <a:ext cx="2578500" cy="2651700"/>
          </a:xfrm>
          <a:prstGeom prst="rect">
            <a:avLst/>
          </a:prstGeom>
          <a:solidFill>
            <a:srgbClr val="E8DDD0"/>
          </a:solidFill>
          <a:ln cap="flat" cmpd="sng" w="9525">
            <a:solidFill>
              <a:srgbClr val="D9CC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p:nvPr/>
        </p:nvSpPr>
        <p:spPr>
          <a:xfrm>
            <a:off x="6249974" y="1834045"/>
            <a:ext cx="384000" cy="384000"/>
          </a:xfrm>
          <a:prstGeom prst="ellipse">
            <a:avLst/>
          </a:prstGeom>
          <a:solidFill>
            <a:srgbClr val="7A5C3A"/>
          </a:solidFill>
          <a:ln cap="flat" cmpd="sng" w="12700">
            <a:solidFill>
              <a:srgbClr val="7A5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3"/>
          <p:cNvSpPr/>
          <p:nvPr/>
        </p:nvSpPr>
        <p:spPr>
          <a:xfrm>
            <a:off x="6249974" y="1834045"/>
            <a:ext cx="384000" cy="384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EDE4"/>
              </a:buClr>
              <a:buSzPts val="1400"/>
              <a:buFont typeface="Georgia"/>
              <a:buNone/>
            </a:pPr>
            <a:r>
              <a:rPr b="1" i="0" lang="en" sz="1400" u="none" cap="none" strike="noStrike">
                <a:solidFill>
                  <a:srgbClr val="F2EDE4"/>
                </a:solidFill>
                <a:latin typeface="Georgia"/>
                <a:ea typeface="Georgia"/>
                <a:cs typeface="Georgia"/>
                <a:sym typeface="Georgia"/>
              </a:rPr>
              <a:t>3</a:t>
            </a:r>
            <a:endParaRPr b="0" i="0" sz="1400" u="none" cap="none" strike="noStrike">
              <a:solidFill>
                <a:schemeClr val="dk1"/>
              </a:solidFill>
              <a:latin typeface="Calibri"/>
              <a:ea typeface="Calibri"/>
              <a:cs typeface="Calibri"/>
              <a:sym typeface="Calibri"/>
            </a:endParaRPr>
          </a:p>
        </p:txBody>
      </p:sp>
      <p:pic>
        <p:nvPicPr>
          <p:cNvPr descr="preencoded.png" id="220" name="Google Shape;220;p23"/>
          <p:cNvPicPr preferRelativeResize="0"/>
          <p:nvPr/>
        </p:nvPicPr>
        <p:blipFill rotWithShape="1">
          <a:blip r:embed="rId6">
            <a:alphaModFix/>
          </a:blip>
          <a:srcRect b="0" l="0" r="0" t="0"/>
          <a:stretch/>
        </p:blipFill>
        <p:spPr>
          <a:xfrm>
            <a:off x="8133638" y="1815757"/>
            <a:ext cx="329184" cy="329184"/>
          </a:xfrm>
          <a:prstGeom prst="rect">
            <a:avLst/>
          </a:prstGeom>
          <a:noFill/>
          <a:ln>
            <a:noFill/>
          </a:ln>
        </p:spPr>
      </p:pic>
      <p:sp>
        <p:nvSpPr>
          <p:cNvPr id="221" name="Google Shape;221;p23"/>
          <p:cNvSpPr/>
          <p:nvPr/>
        </p:nvSpPr>
        <p:spPr>
          <a:xfrm>
            <a:off x="6249974" y="2309533"/>
            <a:ext cx="22494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B2A1A"/>
              </a:buClr>
              <a:buSzPts val="1250"/>
              <a:buFont typeface="Georgia"/>
              <a:buNone/>
            </a:pPr>
            <a:r>
              <a:rPr b="1" lang="en" sz="1250">
                <a:solidFill>
                  <a:srgbClr val="746558"/>
                </a:solidFill>
                <a:latin typeface="Gelasio"/>
                <a:ea typeface="Gelasio"/>
                <a:cs typeface="Gelasio"/>
                <a:sym typeface="Gelasio"/>
              </a:rPr>
              <a:t>Sleep Quality</a:t>
            </a:r>
            <a:endParaRPr i="0" sz="1250" u="none" cap="none" strike="noStrike">
              <a:solidFill>
                <a:srgbClr val="746558"/>
              </a:solidFill>
              <a:latin typeface="Gelasio"/>
              <a:ea typeface="Gelasio"/>
              <a:cs typeface="Gelasio"/>
              <a:sym typeface="Gelasio"/>
            </a:endParaRPr>
          </a:p>
        </p:txBody>
      </p:sp>
      <p:cxnSp>
        <p:nvCxnSpPr>
          <p:cNvPr id="222" name="Google Shape;222;p23"/>
          <p:cNvCxnSpPr/>
          <p:nvPr/>
        </p:nvCxnSpPr>
        <p:spPr>
          <a:xfrm>
            <a:off x="6249974" y="2748445"/>
            <a:ext cx="2249400" cy="0"/>
          </a:xfrm>
          <a:prstGeom prst="straightConnector1">
            <a:avLst/>
          </a:prstGeom>
          <a:noFill/>
          <a:ln cap="flat" cmpd="sng" w="9525">
            <a:solidFill>
              <a:srgbClr val="C4B09A"/>
            </a:solidFill>
            <a:prstDash val="solid"/>
            <a:round/>
            <a:headEnd len="sm" w="sm" type="none"/>
            <a:tailEnd len="sm" w="sm" type="none"/>
          </a:ln>
        </p:spPr>
      </p:cxnSp>
      <p:sp>
        <p:nvSpPr>
          <p:cNvPr id="223" name="Google Shape;223;p23"/>
          <p:cNvSpPr/>
          <p:nvPr/>
        </p:nvSpPr>
        <p:spPr>
          <a:xfrm>
            <a:off x="6249974" y="2858173"/>
            <a:ext cx="2249400" cy="128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4A35"/>
              </a:buClr>
              <a:buSzPts val="1050"/>
              <a:buFont typeface="Calibri"/>
              <a:buNone/>
            </a:pPr>
            <a:r>
              <a:rPr lang="en" sz="1050">
                <a:solidFill>
                  <a:srgbClr val="746558"/>
                </a:solidFill>
                <a:latin typeface="Gelasio"/>
                <a:ea typeface="Gelasio"/>
                <a:cs typeface="Gelasio"/>
                <a:sym typeface="Gelasio"/>
              </a:rPr>
              <a:t>Future studies could focus on predicting sleep quality in addition to sleep duration to get a more complete understanding of sleep health.</a:t>
            </a:r>
            <a:endParaRPr i="0" sz="1050" u="none" cap="none" strike="noStrike">
              <a:solidFill>
                <a:srgbClr val="746558"/>
              </a:solidFill>
              <a:latin typeface="Gelasio"/>
              <a:ea typeface="Gelasio"/>
              <a:cs typeface="Gelasio"/>
              <a:sym typeface="Gelasi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0"/>
        </a:solidFill>
      </p:bgPr>
    </p:bg>
    <p:spTree>
      <p:nvGrpSpPr>
        <p:cNvPr id="227" name="Shape 227"/>
        <p:cNvGrpSpPr/>
        <p:nvPr/>
      </p:nvGrpSpPr>
      <p:grpSpPr>
        <a:xfrm>
          <a:off x="0" y="0"/>
          <a:ext cx="0" cy="0"/>
          <a:chOff x="0" y="0"/>
          <a:chExt cx="0" cy="0"/>
        </a:xfrm>
      </p:grpSpPr>
      <p:sp>
        <p:nvSpPr>
          <p:cNvPr id="228" name="Google Shape;228;p24"/>
          <p:cNvSpPr/>
          <p:nvPr/>
        </p:nvSpPr>
        <p:spPr>
          <a:xfrm>
            <a:off x="496119" y="1909018"/>
            <a:ext cx="4722900" cy="885900"/>
          </a:xfrm>
          <a:prstGeom prst="rect">
            <a:avLst/>
          </a:prstGeom>
          <a:noFill/>
          <a:ln>
            <a:noFill/>
          </a:ln>
        </p:spPr>
        <p:txBody>
          <a:bodyPr anchorCtr="0" anchor="t" bIns="0" lIns="0" spcFirstLastPara="1" rIns="0" wrap="square" tIns="0">
            <a:noAutofit/>
          </a:bodyPr>
          <a:lstStyle/>
          <a:p>
            <a:pPr indent="0" lvl="0" marL="0" marR="0" rtl="0" algn="l">
              <a:lnSpc>
                <a:spcPct val="125225"/>
              </a:lnSpc>
              <a:spcBef>
                <a:spcPts val="0"/>
              </a:spcBef>
              <a:spcAft>
                <a:spcPts val="0"/>
              </a:spcAft>
              <a:buClr>
                <a:srgbClr val="484237"/>
              </a:buClr>
              <a:buSzPts val="5550"/>
              <a:buFont typeface="Gelasio"/>
              <a:buNone/>
            </a:pPr>
            <a:r>
              <a:rPr b="0" i="0" lang="en" sz="5550" u="none" cap="none" strike="noStrike">
                <a:solidFill>
                  <a:srgbClr val="484237"/>
                </a:solidFill>
                <a:latin typeface="Gelasio"/>
                <a:ea typeface="Gelasio"/>
                <a:cs typeface="Gelasio"/>
                <a:sym typeface="Gelasio"/>
              </a:rPr>
              <a:t>Thank You</a:t>
            </a:r>
            <a:endParaRPr b="0" i="0" sz="5550" u="none" cap="none" strike="noStrike"/>
          </a:p>
        </p:txBody>
      </p:sp>
      <p:sp>
        <p:nvSpPr>
          <p:cNvPr id="229" name="Google Shape;229;p24"/>
          <p:cNvSpPr/>
          <p:nvPr/>
        </p:nvSpPr>
        <p:spPr>
          <a:xfrm>
            <a:off x="496119" y="3007668"/>
            <a:ext cx="4722900" cy="226800"/>
          </a:xfrm>
          <a:prstGeom prst="rect">
            <a:avLst/>
          </a:prstGeom>
          <a:noFill/>
          <a:ln>
            <a:noFill/>
          </a:ln>
        </p:spPr>
        <p:txBody>
          <a:bodyPr anchorCtr="0" anchor="t" bIns="0" lIns="0" spcFirstLastPara="1" rIns="0" wrap="square" tIns="0">
            <a:noAutofit/>
          </a:bodyPr>
          <a:lstStyle/>
          <a:p>
            <a:pPr indent="0" lvl="0" marL="0" marR="0" rtl="0" algn="l">
              <a:lnSpc>
                <a:spcPct val="159090"/>
              </a:lnSpc>
              <a:spcBef>
                <a:spcPts val="0"/>
              </a:spcBef>
              <a:spcAft>
                <a:spcPts val="0"/>
              </a:spcAft>
              <a:buClr>
                <a:srgbClr val="746558"/>
              </a:buClr>
              <a:buSzPts val="1100"/>
              <a:buFont typeface="Gelasio"/>
              <a:buNone/>
            </a:pPr>
            <a:r>
              <a:rPr b="0" i="0" lang="en" sz="1100" u="none" cap="none" strike="noStrike">
                <a:solidFill>
                  <a:srgbClr val="746558"/>
                </a:solidFill>
                <a:latin typeface="Gelasio"/>
                <a:ea typeface="Gelasio"/>
                <a:cs typeface="Gelasio"/>
                <a:sym typeface="Gelasio"/>
              </a:rPr>
              <a:t>Questions?</a:t>
            </a:r>
            <a:endParaRPr b="0" i="0" sz="1100" u="none" cap="none" strike="noStrike"/>
          </a:p>
        </p:txBody>
      </p:sp>
      <p:pic>
        <p:nvPicPr>
          <p:cNvPr descr="Lucid dreaming of sleeping woman at night (Provided by Getty Images)" id="230" name="Google Shape;230;p24"/>
          <p:cNvPicPr preferRelativeResize="0"/>
          <p:nvPr/>
        </p:nvPicPr>
        <p:blipFill>
          <a:blip r:embed="rId3">
            <a:alphaModFix/>
          </a:blip>
          <a:stretch>
            <a:fillRect/>
          </a:stretch>
        </p:blipFill>
        <p:spPr>
          <a:xfrm>
            <a:off x="4675950" y="1352963"/>
            <a:ext cx="3657247" cy="243756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